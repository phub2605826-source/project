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3"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FCF6B765-8A7D-FA66-02C1-1B2E5E5A8134}">
          <p14:sldIdLst>
            <p14:sldId id="256"/>
            <p14:sldId id="257"/>
          </p14:sldIdLst>
        </p14:section>
        <p14:section name="Nội dung chính" id="{C1FF4E8F-EAF8-0C27-1C2E-BF36B9FBC518}">
          <p14:sldIdLst>
            <p14:sldId id="258"/>
            <p14:sldId id="259"/>
            <p14:sldId id="260"/>
            <p14:sldId id="261"/>
            <p14:sldId id="262"/>
            <p14:sldId id="263"/>
          </p14:sldIdLst>
        </p14:section>
        <p14:section name="Đánh giá và kết thúc" id="{0895AD15-0AF8-9AFE-2F79-6BD3A3D09A62}">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1A2C9"/>
    <a:srgbClr val="D8E4FF"/>
    <a:srgbClr val="28C8C8"/>
    <a:srgbClr val="02071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92" d="100"/>
          <a:sy n="192" d="100"/>
        </p:scale>
        <p:origin x="174" y="9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lentino Vorontsov" userId="3fcae19a9cfe179f" providerId="LiveId" clId="{4E69B02B-99ED-472F-B26A-CA4820B38D0C}"/>
    <pc:docChg chg="undo custSel modSld modMainMaster">
      <pc:chgData name="Valentino Vorontsov" userId="3fcae19a9cfe179f" providerId="LiveId" clId="{4E69B02B-99ED-472F-B26A-CA4820B38D0C}" dt="2026-10-18T15:17:47.339" v="174" actId="1076"/>
      <pc:docMkLst>
        <pc:docMk/>
      </pc:docMkLst>
      <pc:sldChg chg="addSp delSp modSp mod setBg">
        <pc:chgData name="Valentino Vorontsov" userId="3fcae19a9cfe179f" providerId="LiveId" clId="{4E69B02B-99ED-472F-B26A-CA4820B38D0C}" dt="2026-10-18T15:17:47.339" v="174" actId="1076"/>
        <pc:sldMkLst>
          <pc:docMk/>
          <pc:sldMk cId="0" sldId="256"/>
        </pc:sldMkLst>
        <pc:spChg chg="mod">
          <ac:chgData name="Valentino Vorontsov" userId="3fcae19a9cfe179f" providerId="LiveId" clId="{4E69B02B-99ED-472F-B26A-CA4820B38D0C}" dt="2026-10-18T15:16:00.687" v="133" actId="2711"/>
          <ac:spMkLst>
            <pc:docMk/>
            <pc:sldMk cId="0" sldId="256"/>
            <ac:spMk id="2" creationId="{00000000-0000-0000-0000-000000000000}"/>
          </ac:spMkLst>
        </pc:spChg>
        <pc:spChg chg="add del mod">
          <ac:chgData name="Valentino Vorontsov" userId="3fcae19a9cfe179f" providerId="LiveId" clId="{4E69B02B-99ED-472F-B26A-CA4820B38D0C}" dt="2026-10-18T15:17:47.339" v="174" actId="1076"/>
          <ac:spMkLst>
            <pc:docMk/>
            <pc:sldMk cId="0" sldId="256"/>
            <ac:spMk id="3" creationId="{00000000-0000-0000-0000-000000000000}"/>
          </ac:spMkLst>
        </pc:spChg>
        <pc:spChg chg="del mod">
          <ac:chgData name="Valentino Vorontsov" userId="3fcae19a9cfe179f" providerId="LiveId" clId="{4E69B02B-99ED-472F-B26A-CA4820B38D0C}" dt="2026-10-18T15:13:24.652" v="123" actId="478"/>
          <ac:spMkLst>
            <pc:docMk/>
            <pc:sldMk cId="0" sldId="256"/>
            <ac:spMk id="4" creationId="{00000000-0000-0000-0000-000000000000}"/>
          </ac:spMkLst>
        </pc:spChg>
        <pc:spChg chg="del mod">
          <ac:chgData name="Valentino Vorontsov" userId="3fcae19a9cfe179f" providerId="LiveId" clId="{4E69B02B-99ED-472F-B26A-CA4820B38D0C}" dt="2026-10-18T15:13:25.656" v="124" actId="478"/>
          <ac:spMkLst>
            <pc:docMk/>
            <pc:sldMk cId="0" sldId="256"/>
            <ac:spMk id="6" creationId="{00000000-0000-0000-0000-000000000000}"/>
          </ac:spMkLst>
        </pc:spChg>
        <pc:spChg chg="add mod">
          <ac:chgData name="Valentino Vorontsov" userId="3fcae19a9cfe179f" providerId="LiveId" clId="{4E69B02B-99ED-472F-B26A-CA4820B38D0C}" dt="2026-10-18T15:14:55.742" v="129" actId="207"/>
          <ac:spMkLst>
            <pc:docMk/>
            <pc:sldMk cId="0" sldId="256"/>
            <ac:spMk id="9" creationId="{BEEAACC2-A61F-4F6E-806F-2BDE45167078}"/>
          </ac:spMkLst>
        </pc:spChg>
        <pc:spChg chg="add del mod">
          <ac:chgData name="Valentino Vorontsov" userId="3fcae19a9cfe179f" providerId="LiveId" clId="{4E69B02B-99ED-472F-B26A-CA4820B38D0C}" dt="2026-10-18T15:12:09.638" v="111"/>
          <ac:spMkLst>
            <pc:docMk/>
            <pc:sldMk cId="0" sldId="256"/>
            <ac:spMk id="11" creationId="{4DFF900E-8F69-4656-E0B3-620424CFC1A1}"/>
          </ac:spMkLst>
        </pc:spChg>
        <pc:spChg chg="add mod">
          <ac:chgData name="Valentino Vorontsov" userId="3fcae19a9cfe179f" providerId="LiveId" clId="{4E69B02B-99ED-472F-B26A-CA4820B38D0C}" dt="2026-10-18T15:17:42.922" v="173" actId="1076"/>
          <ac:spMkLst>
            <pc:docMk/>
            <pc:sldMk cId="0" sldId="256"/>
            <ac:spMk id="15" creationId="{EE9A14AD-CBD2-23AE-EB5C-64E99D174107}"/>
          </ac:spMkLst>
        </pc:spChg>
        <pc:picChg chg="del mod">
          <ac:chgData name="Valentino Vorontsov" userId="3fcae19a9cfe179f" providerId="LiveId" clId="{4E69B02B-99ED-472F-B26A-CA4820B38D0C}" dt="2026-10-18T15:13:22.636" v="122" actId="478"/>
          <ac:picMkLst>
            <pc:docMk/>
            <pc:sldMk cId="0" sldId="256"/>
            <ac:picMk id="5" creationId="{00000000-0000-0000-0000-000000000000}"/>
          </ac:picMkLst>
        </pc:picChg>
        <pc:picChg chg="del mod">
          <ac:chgData name="Valentino Vorontsov" userId="3fcae19a9cfe179f" providerId="LiveId" clId="{4E69B02B-99ED-472F-B26A-CA4820B38D0C}" dt="2026-10-18T15:13:22.636" v="122" actId="478"/>
          <ac:picMkLst>
            <pc:docMk/>
            <pc:sldMk cId="0" sldId="256"/>
            <ac:picMk id="7" creationId="{00000000-0000-0000-0000-000000000000}"/>
          </ac:picMkLst>
        </pc:picChg>
        <pc:picChg chg="add mod">
          <ac:chgData name="Valentino Vorontsov" userId="3fcae19a9cfe179f" providerId="LiveId" clId="{4E69B02B-99ED-472F-B26A-CA4820B38D0C}" dt="2026-10-18T15:17:18.998" v="169" actId="1076"/>
          <ac:picMkLst>
            <pc:docMk/>
            <pc:sldMk cId="0" sldId="256"/>
            <ac:picMk id="13" creationId="{24718DF3-1EB0-1838-32F5-C3514A279E91}"/>
          </ac:picMkLst>
        </pc:picChg>
      </pc:sldChg>
      <pc:sldMasterChg chg="modSldLayout">
        <pc:chgData name="Valentino Vorontsov" userId="3fcae19a9cfe179f" providerId="LiveId" clId="{4E69B02B-99ED-472F-B26A-CA4820B38D0C}" dt="2026-10-18T15:14:13.898" v="128"/>
        <pc:sldMasterMkLst>
          <pc:docMk/>
          <pc:sldMasterMk cId="3561306140" sldId="2147483653"/>
        </pc:sldMasterMkLst>
        <pc:sldLayoutChg chg="delSp">
          <pc:chgData name="Valentino Vorontsov" userId="3fcae19a9cfe179f" providerId="LiveId" clId="{4E69B02B-99ED-472F-B26A-CA4820B38D0C}" dt="2026-10-18T15:14:13.898" v="128"/>
          <pc:sldLayoutMkLst>
            <pc:docMk/>
            <pc:sldMasterMk cId="3561306140" sldId="2147483653"/>
            <pc:sldLayoutMk cId="2140361119" sldId="2147483665"/>
          </pc:sldLayoutMkLst>
          <pc:spChg chg="del">
            <ac:chgData name="Valentino Vorontsov" userId="3fcae19a9cfe179f" providerId="LiveId" clId="{4E69B02B-99ED-472F-B26A-CA4820B38D0C}" dt="2026-10-18T15:14:13.898" v="128"/>
            <ac:spMkLst>
              <pc:docMk/>
              <pc:sldMasterMk cId="3561306140" sldId="2147483653"/>
              <pc:sldLayoutMk cId="2140361119" sldId="2147483665"/>
              <ac:spMk id="2" creationId="{00000000-0000-0000-0000-000000000000}"/>
            </ac:spMkLst>
          </pc:spChg>
        </pc:sldLayoutChg>
        <pc:sldLayoutChg chg="delSp">
          <pc:chgData name="Valentino Vorontsov" userId="3fcae19a9cfe179f" providerId="LiveId" clId="{4E69B02B-99ED-472F-B26A-CA4820B38D0C}" dt="2026-10-18T15:14:13.898" v="128"/>
          <pc:sldLayoutMkLst>
            <pc:docMk/>
            <pc:sldMasterMk cId="3561306140" sldId="2147483653"/>
            <pc:sldLayoutMk cId="2709023617" sldId="2147483667"/>
          </pc:sldLayoutMkLst>
          <pc:spChg chg="del">
            <ac:chgData name="Valentino Vorontsov" userId="3fcae19a9cfe179f" providerId="LiveId" clId="{4E69B02B-99ED-472F-B26A-CA4820B38D0C}" dt="2026-10-18T15:14:13.898" v="128"/>
            <ac:spMkLst>
              <pc:docMk/>
              <pc:sldMasterMk cId="3561306140" sldId="2147483653"/>
              <pc:sldLayoutMk cId="2709023617" sldId="2147483667"/>
              <ac:spMk id="2" creationId="{00000000-0000-0000-0000-000000000000}"/>
            </ac:spMkLst>
          </pc:spChg>
        </pc:sldLayout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vi-VN"/>
  <c:roundedCorners val="1"/>
  <c:style val="2"/>
  <c:chart>
    <c:title>
      <c:tx>
        <c:rich>
          <a:bodyPr/>
          <a:lstStyle/>
          <a:p>
            <a:pPr>
              <a:defRPr sz="1400" b="0" i="0" u="none" strike="noStrike">
                <a:solidFill>
                  <a:srgbClr val="12404F"/>
                </a:solidFill>
                <a:latin typeface="+mn-lt"/>
              </a:defRPr>
            </a:pPr>
            <a:r>
              <a:rPr lang="en-US" sz="1400" b="0" i="0" u="none" strike="noStrike">
                <a:solidFill>
                  <a:srgbClr val="12404F"/>
                </a:solidFill>
                <a:latin typeface="+mn-lt"/>
              </a:rPr>
              <a:t>Tỷ lệ sinh viên dùng AI theo mục đích (%)</a:t>
            </a:r>
          </a:p>
        </c:rich>
      </c:tx>
      <c:overlay val="0"/>
    </c:title>
    <c:autoTitleDeleted val="0"/>
    <c:plotArea>
      <c:layout/>
      <c:barChart>
        <c:barDir val="bar"/>
        <c:grouping val="clustered"/>
        <c:varyColors val="0"/>
        <c:ser>
          <c:idx val="0"/>
          <c:order val="0"/>
          <c:tx>
            <c:strRef>
              <c:f>Sheet1!$B$1</c:f>
              <c:strCache>
                <c:ptCount val="1"/>
                <c:pt idx="0">
                  <c:v>Tỷ lệ sinh viên (%)</c:v>
                </c:pt>
              </c:strCache>
            </c:strRef>
          </c:tx>
          <c:spPr>
            <a:solidFill>
              <a:srgbClr val="17707A"/>
            </a:solidFill>
            <a:effectLst/>
          </c:spPr>
          <c:invertIfNegative val="0"/>
          <c:dLbls>
            <c:numFmt formatCode="0&quot;%&quot;" sourceLinked="0"/>
            <c:spPr>
              <a:noFill/>
              <a:ln>
                <a:noFill/>
              </a:ln>
              <a:effectLst/>
            </c:spPr>
            <c:txPr>
              <a:bodyPr/>
              <a:lstStyle/>
              <a:p>
                <a:pPr>
                  <a:defRPr sz="1400" b="0" i="0" u="none" strike="noStrike">
                    <a:solidFill>
                      <a:srgbClr val="0B25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Tìm kiếm thông tin</c:v>
                </c:pt>
                <c:pt idx="1">
                  <c:v>Kiểm tra ngữ pháp</c:v>
                </c:pt>
                <c:pt idx="2">
                  <c:v>Diễn đạt lại văn bản</c:v>
                </c:pt>
                <c:pt idx="3">
                  <c:v>Viết bản nháp đầu tiên</c:v>
                </c:pt>
              </c:strCache>
            </c:strRef>
          </c:cat>
          <c:val>
            <c:numRef>
              <c:f>Sheet1!$B$2:$B$5</c:f>
              <c:numCache>
                <c:formatCode>General</c:formatCode>
                <c:ptCount val="4"/>
                <c:pt idx="0">
                  <c:v>69</c:v>
                </c:pt>
                <c:pt idx="1">
                  <c:v>42</c:v>
                </c:pt>
                <c:pt idx="2">
                  <c:v>28</c:v>
                </c:pt>
                <c:pt idx="3">
                  <c:v>24</c:v>
                </c:pt>
              </c:numCache>
            </c:numRef>
          </c:val>
          <c:extLst>
            <c:ext xmlns:c16="http://schemas.microsoft.com/office/drawing/2014/chart" uri="{C3380CC4-5D6E-409C-BE32-E72D297353CC}">
              <c16:uniqueId val="{00000000-D6F2-4731-9499-F48D3F07E451}"/>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0B2530"/>
                </a:solidFill>
                <a:latin typeface="+mn-lt"/>
              </a:defRPr>
            </a:pPr>
            <a:endParaRPr lang="en-US"/>
          </a:p>
        </c:txPr>
        <c:crossAx val="2094734552"/>
        <c:crosses val="autoZero"/>
        <c:auto val="1"/>
        <c:lblAlgn val="ctr"/>
        <c:lblOffset val="100"/>
        <c:noMultiLvlLbl val="1"/>
      </c:catAx>
      <c:valAx>
        <c:axId val="2094734552"/>
        <c:scaling>
          <c:orientation val="minMax"/>
          <c:max val="85"/>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0700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đề tài và nhóm. Đề tài thuộc Dự án 1: Khám phá các xu hướng CNTT mới nổi. Điền tên nhóm và thành viên vào slide trước khi nộp.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nhanh lộ trình 5 phần của bài.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tạo sinh được dùng theo ba nhóm: gia sư/trợ giảng, hỗ trợ đọc-viết, và cá nhân hóa học tập (Kasneci et al., 2023, đề cập cả hỗ trợ người học khuyết tật). OECD (2026) mô tả AI ở vai trò gia sư, cộng sự và trợ lý.</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86% sinh viên, trung bình 2,1 công cụ AI và 80% chưa hài lòng với mức tích hợp AI của trường: số liệu từ Digital Education Council, khảo sát tháng 7/2024 với 3.839 sinh viên ở 16 quốc gia. 37% giáo viên THCS dùng AI: OECD TALIS 2024 (được OECD Digital Education Outlook 2026 trích dẫn). Lưu ý: khảo sát của DEC là khảo sát tự báo cáo của một liên minh trường đại học và doanh nghiệp.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tác vụ phổ biến nhất là tìm thông tin (69%) và kiểm tra ngữ pháp (42%); 28% dùng để diễn đạt lại văn bản và 24% để viết bản nháp đầu tiên. Sinh viên cũng tóm tắt tài liệu rất nhiều. Hơn 50% sinh viên lo ngại phụ thuộc quá mức vào AI. Nguồn: Digital Education Council (2024).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OECD (2026) tổng hợp bằng chứng cho thấy AI tạo sinh có thể hỗ trợ học tập khi được hướng dẫn bởi các nguyên tắc sư phạm rõ ràng, ở ba vai trò: gia sư, cộng sự và trợ lý. 57% giáo viên THCS đồng ý AI giúp soạn/cải thiện giáo án (TALIS 2024).</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của Bastani và cộng sự (PNAS, 2025): học sinh dùng GPT-4 không có rào chắn làm bài tập luyện tốt hơn, nhưng khi không còn AI thì điểm thấp hơn 17% so với nhóm chưa từng dùng AI. Phiên bản có rào chắn sư phạm (GPT Tutor) giảm phần lớn tác động tiêu cực. Kết quả đến từ môn Toán THPT, nên cần thận trọng khi suy rộng sang các môn khác.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nguyên tắc là tổng hợp của nhóm, dựa trên khuyến nghị của UNESCO (bảo vệ dữ liệu, kiểm định công cụ), OECD (dùng AI có hướng dẫn sư phạm) và Bastani et al. (AI có thể sai nên người dùng phải kiểm tra kết quả). Số liệu 39% (so với 23% năm trước) lấy từ báo cáo EDUCAUSE AI Landscape Study 2025, khảo sát khoảng 800 người làm việc trong giáo dục đại học.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CRAAP: Currency (độ mới), Relevance (độ liên quan), Authority (độ uy tín), Accuracy (độ chính xác), Purpose (mục đích). Điểm thấp hơn ở nguồn DEC vì đây là khảo sát tự báo cáo của liên minh trường đại học và doanh nghiệp, có lợi ích trong việc thúc đẩy AI. Kasneci et al. là bài quan điểm (position paper) năm 2023 nên điểm độ mới thấp hơn.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Chèn liên kết YouTube của video nhóm vào slide này, hoặc nhúng video trực tiếp trong PowerPoint (Insert &gt; Video &gt; Online Video) khi đã tải lên YouTube.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cả lớp thảo luận. Các câu hỏi gắn với ba phát hiện chính: AI là gia sư hay lối tắt (Bastani et al.), cần chính sách sử dụng (EDUCAUSE, UNESCO), và công bằng tiếp cận (UNESCO, OECD).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Danh sách xếp theo thứ tự chữ cái tên tác giả. Mở từng liên kết để đối chiếu trước khi nộp.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E3ADF87D-4A3F-B771-87FC-10ED678F44C3}"/>
              </a:ext>
            </a:extLst>
          </p:cNvPr>
          <p:cNvSpPr>
            <a:spLocks noGrp="1"/>
          </p:cNvSpPr>
          <p:nvPr>
            <p:ph type="ctrTitle"/>
          </p:nvPr>
        </p:nvSpPr>
        <p:spPr>
          <a:xfrm>
            <a:off x="1143000" y="841772"/>
            <a:ext cx="6858000" cy="1790700"/>
          </a:xfrm>
        </p:spPr>
        <p:txBody>
          <a:bodyPr anchor="b"/>
          <a:lstStyle>
            <a:lvl1pPr algn="ctr">
              <a:defRPr sz="4500"/>
            </a:lvl1pPr>
          </a:lstStyle>
          <a:p>
            <a:r>
              <a:rPr lang="vi-VN"/>
              <a:t>Bấm để sửa kiểu tiêu đề Bản cái</a:t>
            </a:r>
            <a:endParaRPr lang="en-US"/>
          </a:p>
        </p:txBody>
      </p:sp>
      <p:sp>
        <p:nvSpPr>
          <p:cNvPr id="3" name="Tiêu đề phụ 2">
            <a:extLst>
              <a:ext uri="{FF2B5EF4-FFF2-40B4-BE49-F238E27FC236}">
                <a16:creationId xmlns:a16="http://schemas.microsoft.com/office/drawing/2014/main" id="{E5B51194-7F9E-3F4B-063A-EAACD8EE476C}"/>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vi-VN"/>
              <a:t>Bấm để chỉnh sửa kiểu tiêu đề phụ của Bản cái</a:t>
            </a:r>
            <a:endParaRPr lang="en-US"/>
          </a:p>
        </p:txBody>
      </p:sp>
      <p:sp>
        <p:nvSpPr>
          <p:cNvPr id="4" name="Chỗ dành sẵn cho Ngày tháng 3">
            <a:extLst>
              <a:ext uri="{FF2B5EF4-FFF2-40B4-BE49-F238E27FC236}">
                <a16:creationId xmlns:a16="http://schemas.microsoft.com/office/drawing/2014/main" id="{2041C7D4-6A16-1B48-72E9-2F4C3ED92BC3}"/>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5" name="Chỗ dành sẵn cho Chân trang 4">
            <a:extLst>
              <a:ext uri="{FF2B5EF4-FFF2-40B4-BE49-F238E27FC236}">
                <a16:creationId xmlns:a16="http://schemas.microsoft.com/office/drawing/2014/main" id="{621BA56B-57EB-FAAA-1DB3-0C522E3351B8}"/>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33D8D343-C861-0739-669C-8EF5B47F3DD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07277093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003F2C7-B05A-612B-A57C-4F9825BE3435}"/>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96899245-4839-38E7-CEE2-79D084843EB6}"/>
              </a:ext>
            </a:extLst>
          </p:cNvPr>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9F2EBE65-650F-1792-98EF-E478B8BC17FC}"/>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5" name="Chỗ dành sẵn cho Chân trang 4">
            <a:extLst>
              <a:ext uri="{FF2B5EF4-FFF2-40B4-BE49-F238E27FC236}">
                <a16:creationId xmlns:a16="http://schemas.microsoft.com/office/drawing/2014/main" id="{22E2B95D-424F-9EC2-8DCE-B24AF44A9D2A}"/>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7E7CEE71-4387-C957-A0CB-C4F06DD9DBA2}"/>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00788846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983B9CB8-ADA8-660D-EB84-A3A60B722E4E}"/>
              </a:ext>
            </a:extLst>
          </p:cNvPr>
          <p:cNvSpPr>
            <a:spLocks noGrp="1"/>
          </p:cNvSpPr>
          <p:nvPr>
            <p:ph type="title"/>
          </p:nvPr>
        </p:nvSpPr>
        <p:spPr>
          <a:xfrm>
            <a:off x="623888" y="1282304"/>
            <a:ext cx="7886700" cy="2139553"/>
          </a:xfrm>
        </p:spPr>
        <p:txBody>
          <a:bodyPr anchor="b"/>
          <a:lstStyle>
            <a:lvl1pPr>
              <a:defRPr sz="4500"/>
            </a:lvl1p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6448C396-8EF0-0F14-0D8F-91FFA1D774AB}"/>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vi-VN"/>
              <a:t>Bấm để chỉnh sửa kiểu văn bản của Bản cái</a:t>
            </a:r>
          </a:p>
        </p:txBody>
      </p:sp>
      <p:sp>
        <p:nvSpPr>
          <p:cNvPr id="4" name="Chỗ dành sẵn cho Ngày tháng 3">
            <a:extLst>
              <a:ext uri="{FF2B5EF4-FFF2-40B4-BE49-F238E27FC236}">
                <a16:creationId xmlns:a16="http://schemas.microsoft.com/office/drawing/2014/main" id="{622AD17B-C644-D140-F33D-871AA15B8455}"/>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5" name="Chỗ dành sẵn cho Chân trang 4">
            <a:extLst>
              <a:ext uri="{FF2B5EF4-FFF2-40B4-BE49-F238E27FC236}">
                <a16:creationId xmlns:a16="http://schemas.microsoft.com/office/drawing/2014/main" id="{1CED12D8-CD02-E967-D413-86709AD65A6B}"/>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4F306BBF-CF9A-CC6E-C368-344F66F98A4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67659686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F37E07E9-B430-E4D1-3403-0697F8DAEE96}"/>
              </a:ext>
            </a:extLst>
          </p:cNvPr>
          <p:cNvSpPr>
            <a:spLocks noGrp="1"/>
          </p:cNvSpPr>
          <p:nvPr>
            <p:ph type="title"/>
          </p:nvPr>
        </p:nvSpPr>
        <p:spPr/>
        <p:txBody>
          <a:body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6A2BCCD8-ED63-563F-4290-A45CF82A214E}"/>
              </a:ext>
            </a:extLst>
          </p:cNvPr>
          <p:cNvSpPr>
            <a:spLocks noGrp="1"/>
          </p:cNvSpPr>
          <p:nvPr>
            <p:ph sz="half" idx="1"/>
          </p:nvPr>
        </p:nvSpPr>
        <p:spPr>
          <a:xfrm>
            <a:off x="628650" y="1369219"/>
            <a:ext cx="3886200" cy="3263504"/>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ội dung 3">
            <a:extLst>
              <a:ext uri="{FF2B5EF4-FFF2-40B4-BE49-F238E27FC236}">
                <a16:creationId xmlns:a16="http://schemas.microsoft.com/office/drawing/2014/main" id="{4A6F380A-2286-3593-A96D-1FB32D3274DC}"/>
              </a:ext>
            </a:extLst>
          </p:cNvPr>
          <p:cNvSpPr>
            <a:spLocks noGrp="1"/>
          </p:cNvSpPr>
          <p:nvPr>
            <p:ph sz="half" idx="2"/>
          </p:nvPr>
        </p:nvSpPr>
        <p:spPr>
          <a:xfrm>
            <a:off x="4629150" y="1369219"/>
            <a:ext cx="3886200" cy="3263504"/>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Ngày tháng 4">
            <a:extLst>
              <a:ext uri="{FF2B5EF4-FFF2-40B4-BE49-F238E27FC236}">
                <a16:creationId xmlns:a16="http://schemas.microsoft.com/office/drawing/2014/main" id="{4B3B918D-0A75-A1A5-5B12-F96A67716D7C}"/>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6" name="Chỗ dành sẵn cho Chân trang 5">
            <a:extLst>
              <a:ext uri="{FF2B5EF4-FFF2-40B4-BE49-F238E27FC236}">
                <a16:creationId xmlns:a16="http://schemas.microsoft.com/office/drawing/2014/main" id="{80AEFB28-6E46-F648-EA50-F459ECAA44E0}"/>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3C0B137D-DD3E-4FB0-F585-E8EB5036DBE3}"/>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60695061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1656866C-1C23-8FDB-BF51-52AA97CD867F}"/>
              </a:ext>
            </a:extLst>
          </p:cNvPr>
          <p:cNvSpPr>
            <a:spLocks noGrp="1"/>
          </p:cNvSpPr>
          <p:nvPr>
            <p:ph type="title"/>
          </p:nvPr>
        </p:nvSpPr>
        <p:spPr>
          <a:xfrm>
            <a:off x="629841" y="273844"/>
            <a:ext cx="7886700" cy="994172"/>
          </a:xfrm>
        </p:spPr>
        <p:txBody>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60B7D45E-C4AB-B4A4-F641-D3580182DE1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a:t>Bấm để chỉnh sửa kiểu văn bản của Bản cái</a:t>
            </a:r>
          </a:p>
        </p:txBody>
      </p:sp>
      <p:sp>
        <p:nvSpPr>
          <p:cNvPr id="4" name="Chỗ dành sẵn cho Nội dung 3">
            <a:extLst>
              <a:ext uri="{FF2B5EF4-FFF2-40B4-BE49-F238E27FC236}">
                <a16:creationId xmlns:a16="http://schemas.microsoft.com/office/drawing/2014/main" id="{B81ED023-83F7-9C21-7656-091B4D45B96B}"/>
              </a:ext>
            </a:extLst>
          </p:cNvPr>
          <p:cNvSpPr>
            <a:spLocks noGrp="1"/>
          </p:cNvSpPr>
          <p:nvPr>
            <p:ph sz="half" idx="2"/>
          </p:nvPr>
        </p:nvSpPr>
        <p:spPr>
          <a:xfrm>
            <a:off x="629842" y="1878806"/>
            <a:ext cx="3868340" cy="2763441"/>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5" name="Chỗ dành sẵn cho Văn bản 4">
            <a:extLst>
              <a:ext uri="{FF2B5EF4-FFF2-40B4-BE49-F238E27FC236}">
                <a16:creationId xmlns:a16="http://schemas.microsoft.com/office/drawing/2014/main" id="{14C6B317-EDFC-EE1C-6298-BFF097BE807B}"/>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a:t>Bấm để chỉnh sửa kiểu văn bản của Bản cái</a:t>
            </a:r>
          </a:p>
        </p:txBody>
      </p:sp>
      <p:sp>
        <p:nvSpPr>
          <p:cNvPr id="6" name="Chỗ dành sẵn cho Nội dung 5">
            <a:extLst>
              <a:ext uri="{FF2B5EF4-FFF2-40B4-BE49-F238E27FC236}">
                <a16:creationId xmlns:a16="http://schemas.microsoft.com/office/drawing/2014/main" id="{E4CF9432-4F66-9AA7-D38A-788F01B475C9}"/>
              </a:ext>
            </a:extLst>
          </p:cNvPr>
          <p:cNvSpPr>
            <a:spLocks noGrp="1"/>
          </p:cNvSpPr>
          <p:nvPr>
            <p:ph sz="quarter" idx="4"/>
          </p:nvPr>
        </p:nvSpPr>
        <p:spPr>
          <a:xfrm>
            <a:off x="4629150" y="1878806"/>
            <a:ext cx="3887391" cy="2763441"/>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7" name="Chỗ dành sẵn cho Ngày tháng 6">
            <a:extLst>
              <a:ext uri="{FF2B5EF4-FFF2-40B4-BE49-F238E27FC236}">
                <a16:creationId xmlns:a16="http://schemas.microsoft.com/office/drawing/2014/main" id="{94A4FD69-3511-01D0-C36E-F945AA216EC0}"/>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8" name="Chỗ dành sẵn cho Chân trang 7">
            <a:extLst>
              <a:ext uri="{FF2B5EF4-FFF2-40B4-BE49-F238E27FC236}">
                <a16:creationId xmlns:a16="http://schemas.microsoft.com/office/drawing/2014/main" id="{A0C95658-FC04-627E-2297-A8A6CFF2043E}"/>
              </a:ext>
            </a:extLst>
          </p:cNvPr>
          <p:cNvSpPr>
            <a:spLocks noGrp="1"/>
          </p:cNvSpPr>
          <p:nvPr>
            <p:ph type="ftr" sz="quarter" idx="11"/>
          </p:nvPr>
        </p:nvSpPr>
        <p:spPr/>
        <p:txBody>
          <a:bodyPr/>
          <a:lstStyle/>
          <a:p>
            <a:endParaRPr lang="en-US"/>
          </a:p>
        </p:txBody>
      </p:sp>
      <p:sp>
        <p:nvSpPr>
          <p:cNvPr id="9" name="Chỗ dành sẵn cho Số hiệu Bản chiếu 8">
            <a:extLst>
              <a:ext uri="{FF2B5EF4-FFF2-40B4-BE49-F238E27FC236}">
                <a16:creationId xmlns:a16="http://schemas.microsoft.com/office/drawing/2014/main" id="{309EEE51-A426-0EB2-679B-20235187A41A}"/>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418764727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D39BD30C-88DA-D6FA-2726-846D70AC1DDF}"/>
              </a:ext>
            </a:extLst>
          </p:cNvPr>
          <p:cNvSpPr>
            <a:spLocks noGrp="1"/>
          </p:cNvSpPr>
          <p:nvPr>
            <p:ph type="title"/>
          </p:nvPr>
        </p:nvSpPr>
        <p:spPr/>
        <p:txBody>
          <a:bodyPr/>
          <a:lstStyle/>
          <a:p>
            <a:r>
              <a:rPr lang="vi-VN"/>
              <a:t>Bấm để sửa kiểu tiêu đề Bản cái</a:t>
            </a:r>
            <a:endParaRPr lang="en-US"/>
          </a:p>
        </p:txBody>
      </p:sp>
      <p:sp>
        <p:nvSpPr>
          <p:cNvPr id="3" name="Chỗ dành sẵn cho Ngày tháng 2">
            <a:extLst>
              <a:ext uri="{FF2B5EF4-FFF2-40B4-BE49-F238E27FC236}">
                <a16:creationId xmlns:a16="http://schemas.microsoft.com/office/drawing/2014/main" id="{E6BCCADA-08D1-1348-A86F-031597F618B4}"/>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4" name="Chỗ dành sẵn cho Chân trang 3">
            <a:extLst>
              <a:ext uri="{FF2B5EF4-FFF2-40B4-BE49-F238E27FC236}">
                <a16:creationId xmlns:a16="http://schemas.microsoft.com/office/drawing/2014/main" id="{DB725C4F-1B05-4E29-E40B-ED4253E9061A}"/>
              </a:ext>
            </a:extLst>
          </p:cNvPr>
          <p:cNvSpPr>
            <a:spLocks noGrp="1"/>
          </p:cNvSpPr>
          <p:nvPr>
            <p:ph type="ftr" sz="quarter" idx="11"/>
          </p:nvPr>
        </p:nvSpPr>
        <p:spPr/>
        <p:txBody>
          <a:bodyPr/>
          <a:lstStyle/>
          <a:p>
            <a:endParaRPr lang="en-US"/>
          </a:p>
        </p:txBody>
      </p:sp>
      <p:sp>
        <p:nvSpPr>
          <p:cNvPr id="5" name="Chỗ dành sẵn cho Số hiệu Bản chiếu 4">
            <a:extLst>
              <a:ext uri="{FF2B5EF4-FFF2-40B4-BE49-F238E27FC236}">
                <a16:creationId xmlns:a16="http://schemas.microsoft.com/office/drawing/2014/main" id="{A60FA0F6-4EB9-904C-BD61-CEB92C4DCAEA}"/>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96086121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Chỗ dành sẵn cho Ngày tháng 1">
            <a:extLst>
              <a:ext uri="{FF2B5EF4-FFF2-40B4-BE49-F238E27FC236}">
                <a16:creationId xmlns:a16="http://schemas.microsoft.com/office/drawing/2014/main" id="{FF4D634C-69CD-04FD-427C-83704B10AA62}"/>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3" name="Chỗ dành sẵn cho Chân trang 2">
            <a:extLst>
              <a:ext uri="{FF2B5EF4-FFF2-40B4-BE49-F238E27FC236}">
                <a16:creationId xmlns:a16="http://schemas.microsoft.com/office/drawing/2014/main" id="{4EC114E9-230B-DA64-7580-38ED46781E6C}"/>
              </a:ext>
            </a:extLst>
          </p:cNvPr>
          <p:cNvSpPr>
            <a:spLocks noGrp="1"/>
          </p:cNvSpPr>
          <p:nvPr>
            <p:ph type="ftr" sz="quarter" idx="11"/>
          </p:nvPr>
        </p:nvSpPr>
        <p:spPr/>
        <p:txBody>
          <a:bodyPr/>
          <a:lstStyle/>
          <a:p>
            <a:endParaRPr lang="en-US"/>
          </a:p>
        </p:txBody>
      </p:sp>
      <p:sp>
        <p:nvSpPr>
          <p:cNvPr id="4" name="Chỗ dành sẵn cho Số hiệu Bản chiếu 3">
            <a:extLst>
              <a:ext uri="{FF2B5EF4-FFF2-40B4-BE49-F238E27FC236}">
                <a16:creationId xmlns:a16="http://schemas.microsoft.com/office/drawing/2014/main" id="{68109088-11D3-2ABF-B80C-59F2DEF21407}"/>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38450358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38387F2-9885-1161-266F-70F453F6137C}"/>
              </a:ext>
            </a:extLst>
          </p:cNvPr>
          <p:cNvSpPr>
            <a:spLocks noGrp="1"/>
          </p:cNvSpPr>
          <p:nvPr>
            <p:ph type="title"/>
          </p:nvPr>
        </p:nvSpPr>
        <p:spPr>
          <a:xfrm>
            <a:off x="629841" y="342900"/>
            <a:ext cx="2949178" cy="1200150"/>
          </a:xfrm>
        </p:spPr>
        <p:txBody>
          <a:bodyPr anchor="b"/>
          <a:lstStyle>
            <a:lvl1pPr>
              <a:defRPr sz="2400"/>
            </a:lvl1pPr>
          </a:lstStyle>
          <a:p>
            <a:r>
              <a:rPr lang="vi-VN"/>
              <a:t>Bấm để sửa kiểu tiêu đề Bản cái</a:t>
            </a:r>
            <a:endParaRPr lang="en-US"/>
          </a:p>
        </p:txBody>
      </p:sp>
      <p:sp>
        <p:nvSpPr>
          <p:cNvPr id="3" name="Chỗ dành sẵn cho Nội dung 2">
            <a:extLst>
              <a:ext uri="{FF2B5EF4-FFF2-40B4-BE49-F238E27FC236}">
                <a16:creationId xmlns:a16="http://schemas.microsoft.com/office/drawing/2014/main" id="{7BCC4C8F-8531-706C-4E9B-90527CC1D10D}"/>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Văn bản 3">
            <a:extLst>
              <a:ext uri="{FF2B5EF4-FFF2-40B4-BE49-F238E27FC236}">
                <a16:creationId xmlns:a16="http://schemas.microsoft.com/office/drawing/2014/main" id="{0DEF9FA4-5DD2-FEC0-3CA5-D6C7B929217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F66EEE0A-272D-917D-CDED-3886115D6A7C}"/>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6" name="Chỗ dành sẵn cho Chân trang 5">
            <a:extLst>
              <a:ext uri="{FF2B5EF4-FFF2-40B4-BE49-F238E27FC236}">
                <a16:creationId xmlns:a16="http://schemas.microsoft.com/office/drawing/2014/main" id="{CF2BDAEA-5667-FC78-A5E3-D32179CABE30}"/>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DC91652A-647F-F678-90BF-CB83CB1D4F4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59929055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015FE84B-0E19-9184-79DE-724BC038F39C}"/>
              </a:ext>
            </a:extLst>
          </p:cNvPr>
          <p:cNvSpPr>
            <a:spLocks noGrp="1"/>
          </p:cNvSpPr>
          <p:nvPr>
            <p:ph type="title"/>
          </p:nvPr>
        </p:nvSpPr>
        <p:spPr>
          <a:xfrm>
            <a:off x="629841" y="342900"/>
            <a:ext cx="2949178" cy="1200150"/>
          </a:xfrm>
        </p:spPr>
        <p:txBody>
          <a:bodyPr anchor="b"/>
          <a:lstStyle>
            <a:lvl1pPr>
              <a:defRPr sz="2400"/>
            </a:lvl1pPr>
          </a:lstStyle>
          <a:p>
            <a:r>
              <a:rPr lang="vi-VN"/>
              <a:t>Bấm để sửa kiểu tiêu đề Bản cái</a:t>
            </a:r>
            <a:endParaRPr lang="en-US"/>
          </a:p>
        </p:txBody>
      </p:sp>
      <p:sp>
        <p:nvSpPr>
          <p:cNvPr id="3" name="Chỗ dành sẵn cho Hình ảnh 2">
            <a:extLst>
              <a:ext uri="{FF2B5EF4-FFF2-40B4-BE49-F238E27FC236}">
                <a16:creationId xmlns:a16="http://schemas.microsoft.com/office/drawing/2014/main" id="{BAFA5AD5-27FF-1DBB-9AED-56ADEF9BD3C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Chỗ dành sẵn cho Văn bản 3">
            <a:extLst>
              <a:ext uri="{FF2B5EF4-FFF2-40B4-BE49-F238E27FC236}">
                <a16:creationId xmlns:a16="http://schemas.microsoft.com/office/drawing/2014/main" id="{6C819C9F-624D-5168-AE55-A8B4A92C922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vi-VN"/>
              <a:t>Bấm để chỉnh sửa kiểu văn bản của Bản cái</a:t>
            </a:r>
          </a:p>
        </p:txBody>
      </p:sp>
      <p:sp>
        <p:nvSpPr>
          <p:cNvPr id="5" name="Chỗ dành sẵn cho Ngày tháng 4">
            <a:extLst>
              <a:ext uri="{FF2B5EF4-FFF2-40B4-BE49-F238E27FC236}">
                <a16:creationId xmlns:a16="http://schemas.microsoft.com/office/drawing/2014/main" id="{507F802D-FCCB-4BC8-6A1C-7C50EDC6457C}"/>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6" name="Chỗ dành sẵn cho Chân trang 5">
            <a:extLst>
              <a:ext uri="{FF2B5EF4-FFF2-40B4-BE49-F238E27FC236}">
                <a16:creationId xmlns:a16="http://schemas.microsoft.com/office/drawing/2014/main" id="{1BF70987-2F0A-2DED-A83D-2B0F2C976D4F}"/>
              </a:ext>
            </a:extLst>
          </p:cNvPr>
          <p:cNvSpPr>
            <a:spLocks noGrp="1"/>
          </p:cNvSpPr>
          <p:nvPr>
            <p:ph type="ftr" sz="quarter" idx="11"/>
          </p:nvPr>
        </p:nvSpPr>
        <p:spPr/>
        <p:txBody>
          <a:bodyPr/>
          <a:lstStyle/>
          <a:p>
            <a:endParaRPr lang="en-US"/>
          </a:p>
        </p:txBody>
      </p:sp>
      <p:sp>
        <p:nvSpPr>
          <p:cNvPr id="7" name="Chỗ dành sẵn cho Số hiệu Bản chiếu 6">
            <a:extLst>
              <a:ext uri="{FF2B5EF4-FFF2-40B4-BE49-F238E27FC236}">
                <a16:creationId xmlns:a16="http://schemas.microsoft.com/office/drawing/2014/main" id="{47831916-758B-CE6C-5715-77FBB7241931}"/>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15858920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752F772A-FBB5-559D-5EE2-6757A9B42956}"/>
              </a:ext>
            </a:extLst>
          </p:cNvPr>
          <p:cNvSpPr>
            <a:spLocks noGrp="1"/>
          </p:cNvSpPr>
          <p:nvPr>
            <p:ph type="title"/>
          </p:nvPr>
        </p:nvSpPr>
        <p:spPr/>
        <p:txBody>
          <a:bodyPr/>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8FB127F5-7F91-E0D4-9954-5D2E8660CC18}"/>
              </a:ext>
            </a:extLst>
          </p:cNvPr>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18B3C78C-4926-A2EE-322B-4A2DE6F99335}"/>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5" name="Chỗ dành sẵn cho Chân trang 4">
            <a:extLst>
              <a:ext uri="{FF2B5EF4-FFF2-40B4-BE49-F238E27FC236}">
                <a16:creationId xmlns:a16="http://schemas.microsoft.com/office/drawing/2014/main" id="{9CA8D882-FF07-66AB-ED08-BF6CB541AA23}"/>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6E1572B7-D0D1-A72B-7A38-DA395E0C2BBC}"/>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6043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Tiêu đề Dọc 1">
            <a:extLst>
              <a:ext uri="{FF2B5EF4-FFF2-40B4-BE49-F238E27FC236}">
                <a16:creationId xmlns:a16="http://schemas.microsoft.com/office/drawing/2014/main" id="{0A8919AB-413A-40BF-5EAB-66D5BA60EB18}"/>
              </a:ext>
            </a:extLst>
          </p:cNvPr>
          <p:cNvSpPr>
            <a:spLocks noGrp="1"/>
          </p:cNvSpPr>
          <p:nvPr>
            <p:ph type="title" orient="vert"/>
          </p:nvPr>
        </p:nvSpPr>
        <p:spPr>
          <a:xfrm>
            <a:off x="6543675" y="273844"/>
            <a:ext cx="1971675" cy="4358879"/>
          </a:xfrm>
        </p:spPr>
        <p:txBody>
          <a:bodyPr vert="eaVert"/>
          <a:lstStyle/>
          <a:p>
            <a:r>
              <a:rPr lang="vi-VN"/>
              <a:t>Bấm để sửa kiểu tiêu đề Bản cái</a:t>
            </a:r>
            <a:endParaRPr lang="en-US"/>
          </a:p>
        </p:txBody>
      </p:sp>
      <p:sp>
        <p:nvSpPr>
          <p:cNvPr id="3" name="Chỗ dành sẵn cho Văn bản Dọc 2">
            <a:extLst>
              <a:ext uri="{FF2B5EF4-FFF2-40B4-BE49-F238E27FC236}">
                <a16:creationId xmlns:a16="http://schemas.microsoft.com/office/drawing/2014/main" id="{B18799A5-138F-F412-E7B8-44DEBFCF3BFE}"/>
              </a:ext>
            </a:extLst>
          </p:cNvPr>
          <p:cNvSpPr>
            <a:spLocks noGrp="1"/>
          </p:cNvSpPr>
          <p:nvPr>
            <p:ph type="body" orient="vert" idx="1"/>
          </p:nvPr>
        </p:nvSpPr>
        <p:spPr>
          <a:xfrm>
            <a:off x="628650" y="273844"/>
            <a:ext cx="5800725" cy="4358879"/>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796B187D-F3BA-22E4-EE83-3E0F334BDC2C}"/>
              </a:ext>
            </a:extLst>
          </p:cNvPr>
          <p:cNvSpPr>
            <a:spLocks noGrp="1"/>
          </p:cNvSpPr>
          <p:nvPr>
            <p:ph type="dt" sz="half" idx="10"/>
          </p:nvPr>
        </p:nvSpPr>
        <p:spPr/>
        <p:txBody>
          <a:bodyPr/>
          <a:lstStyle/>
          <a:p>
            <a:fld id="{7430F270-4A00-4A05-B1F5-787C2D86685F}" type="datetimeFigureOut">
              <a:rPr lang="en-US" smtClean="0"/>
              <a:t>10/18/2026</a:t>
            </a:fld>
            <a:endParaRPr lang="en-US"/>
          </a:p>
        </p:txBody>
      </p:sp>
      <p:sp>
        <p:nvSpPr>
          <p:cNvPr id="5" name="Chỗ dành sẵn cho Chân trang 4">
            <a:extLst>
              <a:ext uri="{FF2B5EF4-FFF2-40B4-BE49-F238E27FC236}">
                <a16:creationId xmlns:a16="http://schemas.microsoft.com/office/drawing/2014/main" id="{B4535F2C-CF1B-54BB-E702-F19D1EBC6C36}"/>
              </a:ext>
            </a:extLst>
          </p:cNvPr>
          <p:cNvSpPr>
            <a:spLocks noGrp="1"/>
          </p:cNvSpPr>
          <p:nvPr>
            <p:ph type="ftr" sz="quarter" idx="11"/>
          </p:nvPr>
        </p:nvSpPr>
        <p:spPr/>
        <p:txBody>
          <a:bodyPr/>
          <a:lstStyle/>
          <a:p>
            <a:endParaRPr lang="en-US"/>
          </a:p>
        </p:txBody>
      </p:sp>
      <p:sp>
        <p:nvSpPr>
          <p:cNvPr id="6" name="Chỗ dành sẵn cho Số hiệu Bản chiếu 5">
            <a:extLst>
              <a:ext uri="{FF2B5EF4-FFF2-40B4-BE49-F238E27FC236}">
                <a16:creationId xmlns:a16="http://schemas.microsoft.com/office/drawing/2014/main" id="{AE2469DE-68C2-BCFB-A86C-8741A25B3A60}"/>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97189218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03611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288070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ARK">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ADCE0"/>
                </a:solidFill>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2709023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Tiêu đề 1">
            <a:extLst>
              <a:ext uri="{FF2B5EF4-FFF2-40B4-BE49-F238E27FC236}">
                <a16:creationId xmlns:a16="http://schemas.microsoft.com/office/drawing/2014/main" id="{74DC8C52-D5EE-4B13-53A2-B645AE950CDA}"/>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vi-VN"/>
              <a:t>Bấm để sửa kiểu tiêu đề Bản cái</a:t>
            </a:r>
            <a:endParaRPr lang="en-US"/>
          </a:p>
        </p:txBody>
      </p:sp>
      <p:sp>
        <p:nvSpPr>
          <p:cNvPr id="3" name="Chỗ dành sẵn cho Văn bản 2">
            <a:extLst>
              <a:ext uri="{FF2B5EF4-FFF2-40B4-BE49-F238E27FC236}">
                <a16:creationId xmlns:a16="http://schemas.microsoft.com/office/drawing/2014/main" id="{63A3C908-03B4-2E3D-83FD-7F1E579355B6}"/>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a:p>
        </p:txBody>
      </p:sp>
      <p:sp>
        <p:nvSpPr>
          <p:cNvPr id="4" name="Chỗ dành sẵn cho Ngày tháng 3">
            <a:extLst>
              <a:ext uri="{FF2B5EF4-FFF2-40B4-BE49-F238E27FC236}">
                <a16:creationId xmlns:a16="http://schemas.microsoft.com/office/drawing/2014/main" id="{263F2085-EE09-3C20-C3E1-1782829B13DE}"/>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430F270-4A00-4A05-B1F5-787C2D86685F}" type="datetimeFigureOut">
              <a:rPr lang="en-US" smtClean="0"/>
              <a:t>10/18/2026</a:t>
            </a:fld>
            <a:endParaRPr lang="en-US"/>
          </a:p>
        </p:txBody>
      </p:sp>
      <p:sp>
        <p:nvSpPr>
          <p:cNvPr id="5" name="Chỗ dành sẵn cho Chân trang 4">
            <a:extLst>
              <a:ext uri="{FF2B5EF4-FFF2-40B4-BE49-F238E27FC236}">
                <a16:creationId xmlns:a16="http://schemas.microsoft.com/office/drawing/2014/main" id="{FB12A890-2AC6-BAA7-8AE6-D36D378C952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Chỗ dành sẵn cho Số hiệu Bản chiếu 5">
            <a:extLst>
              <a:ext uri="{FF2B5EF4-FFF2-40B4-BE49-F238E27FC236}">
                <a16:creationId xmlns:a16="http://schemas.microsoft.com/office/drawing/2014/main" id="{976A5209-359E-6A05-1F3D-8E49A296C308}"/>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561306140"/>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071D"/>
        </a:solidFill>
        <a:effectLst/>
      </p:bgPr>
    </p:bg>
    <p:spTree>
      <p:nvGrpSpPr>
        <p:cNvPr id="1" name=""/>
        <p:cNvGrpSpPr/>
        <p:nvPr/>
      </p:nvGrpSpPr>
      <p:grpSpPr>
        <a:xfrm>
          <a:off x="0" y="0"/>
          <a:ext cx="0" cy="0"/>
          <a:chOff x="0" y="0"/>
          <a:chExt cx="0" cy="0"/>
        </a:xfrm>
      </p:grpSpPr>
      <p:sp>
        <p:nvSpPr>
          <p:cNvPr id="2" name="Tiêu đề"/>
          <p:cNvSpPr txBox="1"/>
          <p:nvPr/>
        </p:nvSpPr>
        <p:spPr>
          <a:xfrm>
            <a:off x="640080" y="1097280"/>
            <a:ext cx="5760720" cy="1645920"/>
          </a:xfrm>
          <a:prstGeom prst="rect">
            <a:avLst/>
          </a:prstGeom>
          <a:noFill/>
          <a:ln/>
        </p:spPr>
        <p:txBody>
          <a:bodyPr wrap="square" lIns="0" tIns="0" rIns="0" bIns="0" rtlCol="0" anchor="b"/>
          <a:lstStyle/>
          <a:p>
            <a:pPr marL="0" indent="0" algn="l">
              <a:buNone/>
            </a:pPr>
            <a:r>
              <a:rPr lang="en-US" sz="4000" b="1" dirty="0">
                <a:solidFill>
                  <a:schemeClr val="bg1"/>
                </a:solidFill>
                <a:ea typeface="Cambria" panose="02040503050406030204" pitchFamily="18" charset="0"/>
                <a:cs typeface="Cambria" pitchFamily="34" charset="-120"/>
              </a:rPr>
              <a:t>Ứng dụng của AI trong học tập</a:t>
            </a:r>
            <a:endParaRPr lang="en-US" sz="4000" dirty="0">
              <a:ea typeface="Cambria" panose="02040503050406030204" pitchFamily="18" charset="0"/>
            </a:endParaRPr>
          </a:p>
        </p:txBody>
      </p:sp>
      <p:sp>
        <p:nvSpPr>
          <p:cNvPr id="3" name="Phụ đề"/>
          <p:cNvSpPr txBox="1"/>
          <p:nvPr/>
        </p:nvSpPr>
        <p:spPr>
          <a:xfrm>
            <a:off x="505901" y="4046220"/>
            <a:ext cx="1725434" cy="336937"/>
          </a:xfrm>
          <a:prstGeom prst="rect">
            <a:avLst/>
          </a:prstGeom>
          <a:noFill/>
          <a:ln/>
        </p:spPr>
        <p:txBody>
          <a:bodyPr wrap="square" lIns="0" tIns="0" rIns="0" bIns="0" rtlCol="0" anchor="t"/>
          <a:lstStyle/>
          <a:p>
            <a:pPr marL="0" indent="0" algn="l">
              <a:buNone/>
            </a:pPr>
            <a:r>
              <a:rPr lang="en-US" sz="1600" dirty="0">
                <a:solidFill>
                  <a:schemeClr val="bg2"/>
                </a:solidFill>
              </a:rPr>
              <a:t> </a:t>
            </a:r>
            <a:r>
              <a:rPr lang="en-US" sz="1600" dirty="0" err="1">
                <a:solidFill>
                  <a:srgbClr val="D8E4FF"/>
                </a:solidFill>
              </a:rPr>
              <a:t>Nhóm</a:t>
            </a:r>
            <a:r>
              <a:rPr lang="en-US" sz="1600" dirty="0">
                <a:solidFill>
                  <a:srgbClr val="D8E4FF"/>
                </a:solidFill>
              </a:rPr>
              <a:t> </a:t>
            </a:r>
            <a:r>
              <a:rPr lang="vi-VN" sz="1600" dirty="0">
                <a:solidFill>
                  <a:srgbClr val="D8E4FF"/>
                </a:solidFill>
              </a:rPr>
              <a:t>Phong Phú  </a:t>
            </a:r>
          </a:p>
        </p:txBody>
      </p:sp>
      <p:sp>
        <p:nvSpPr>
          <p:cNvPr id="9" name="Hộp Văn bản 8">
            <a:extLst>
              <a:ext uri="{FF2B5EF4-FFF2-40B4-BE49-F238E27FC236}">
                <a16:creationId xmlns:a16="http://schemas.microsoft.com/office/drawing/2014/main" id="{BEEAACC2-A61F-4F6E-806F-2BDE45167078}"/>
              </a:ext>
            </a:extLst>
          </p:cNvPr>
          <p:cNvSpPr txBox="1"/>
          <p:nvPr/>
        </p:nvSpPr>
        <p:spPr>
          <a:xfrm>
            <a:off x="70339" y="81304"/>
            <a:ext cx="4572000" cy="338554"/>
          </a:xfrm>
          <a:prstGeom prst="rect">
            <a:avLst/>
          </a:prstGeom>
          <a:noFill/>
        </p:spPr>
        <p:txBody>
          <a:bodyPr wrap="square">
            <a:spAutoFit/>
          </a:bodyPr>
          <a:lstStyle/>
          <a:p>
            <a:r>
              <a:rPr lang="en-US" sz="1600" dirty="0" err="1">
                <a:solidFill>
                  <a:srgbClr val="28C8C8"/>
                </a:solidFill>
              </a:rPr>
              <a:t>Dự</a:t>
            </a:r>
            <a:r>
              <a:rPr lang="en-US" sz="1600" dirty="0">
                <a:solidFill>
                  <a:srgbClr val="28C8C8"/>
                </a:solidFill>
              </a:rPr>
              <a:t> </a:t>
            </a:r>
            <a:r>
              <a:rPr lang="en-US" sz="1600" dirty="0" err="1">
                <a:solidFill>
                  <a:srgbClr val="28C8C8"/>
                </a:solidFill>
              </a:rPr>
              <a:t>án</a:t>
            </a:r>
            <a:r>
              <a:rPr lang="en-US" sz="1600" dirty="0">
                <a:solidFill>
                  <a:srgbClr val="28C8C8"/>
                </a:solidFill>
              </a:rPr>
              <a:t> 1: </a:t>
            </a:r>
            <a:r>
              <a:rPr lang="en-US" sz="1600" dirty="0" err="1">
                <a:solidFill>
                  <a:srgbClr val="28C8C8"/>
                </a:solidFill>
              </a:rPr>
              <a:t>Khám</a:t>
            </a:r>
            <a:r>
              <a:rPr lang="en-US" sz="1600" dirty="0">
                <a:solidFill>
                  <a:srgbClr val="28C8C8"/>
                </a:solidFill>
              </a:rPr>
              <a:t> </a:t>
            </a:r>
            <a:r>
              <a:rPr lang="en-US" sz="1600" dirty="0" err="1">
                <a:solidFill>
                  <a:srgbClr val="28C8C8"/>
                </a:solidFill>
              </a:rPr>
              <a:t>phá</a:t>
            </a:r>
            <a:r>
              <a:rPr lang="en-US" sz="1600" dirty="0">
                <a:solidFill>
                  <a:srgbClr val="28C8C8"/>
                </a:solidFill>
              </a:rPr>
              <a:t> </a:t>
            </a:r>
            <a:r>
              <a:rPr lang="en-US" sz="1600" dirty="0" err="1">
                <a:solidFill>
                  <a:srgbClr val="28C8C8"/>
                </a:solidFill>
              </a:rPr>
              <a:t>các</a:t>
            </a:r>
            <a:r>
              <a:rPr lang="en-US" sz="1600" dirty="0">
                <a:solidFill>
                  <a:srgbClr val="28C8C8"/>
                </a:solidFill>
              </a:rPr>
              <a:t> xu </a:t>
            </a:r>
            <a:r>
              <a:rPr lang="en-US" sz="1600" dirty="0" err="1">
                <a:solidFill>
                  <a:srgbClr val="28C8C8"/>
                </a:solidFill>
              </a:rPr>
              <a:t>hướng</a:t>
            </a:r>
            <a:r>
              <a:rPr lang="en-US" sz="1600" dirty="0">
                <a:solidFill>
                  <a:srgbClr val="28C8C8"/>
                </a:solidFill>
              </a:rPr>
              <a:t> CNTT </a:t>
            </a:r>
            <a:r>
              <a:rPr lang="en-US" sz="1600" dirty="0" err="1">
                <a:solidFill>
                  <a:srgbClr val="28C8C8"/>
                </a:solidFill>
              </a:rPr>
              <a:t>mới</a:t>
            </a:r>
            <a:r>
              <a:rPr lang="en-US" sz="1600" dirty="0">
                <a:solidFill>
                  <a:srgbClr val="28C8C8"/>
                </a:solidFill>
              </a:rPr>
              <a:t> </a:t>
            </a:r>
            <a:r>
              <a:rPr lang="en-US" sz="1600" dirty="0" err="1">
                <a:solidFill>
                  <a:srgbClr val="28C8C8"/>
                </a:solidFill>
              </a:rPr>
              <a:t>nổi</a:t>
            </a:r>
            <a:endParaRPr lang="en-US" dirty="0">
              <a:solidFill>
                <a:srgbClr val="28C8C8"/>
              </a:solidFill>
            </a:endParaRPr>
          </a:p>
        </p:txBody>
      </p:sp>
      <p:pic>
        <p:nvPicPr>
          <p:cNvPr id="13" name="Hình ảnh 12">
            <a:extLst>
              <a:ext uri="{FF2B5EF4-FFF2-40B4-BE49-F238E27FC236}">
                <a16:creationId xmlns:a16="http://schemas.microsoft.com/office/drawing/2014/main" id="{24718DF3-1EB0-1838-32F5-C3514A279E91}"/>
              </a:ext>
            </a:extLst>
          </p:cNvPr>
          <p:cNvPicPr>
            <a:picLocks noChangeAspect="1"/>
          </p:cNvPicPr>
          <p:nvPr/>
        </p:nvPicPr>
        <p:blipFill>
          <a:blip r:embed="rId3"/>
          <a:stretch>
            <a:fillRect/>
          </a:stretch>
        </p:blipFill>
        <p:spPr>
          <a:xfrm>
            <a:off x="6723822" y="0"/>
            <a:ext cx="2420178" cy="2420178"/>
          </a:xfrm>
          <a:prstGeom prst="rect">
            <a:avLst/>
          </a:prstGeom>
        </p:spPr>
      </p:pic>
      <p:sp>
        <p:nvSpPr>
          <p:cNvPr id="15" name="Hộp Văn bản 14">
            <a:extLst>
              <a:ext uri="{FF2B5EF4-FFF2-40B4-BE49-F238E27FC236}">
                <a16:creationId xmlns:a16="http://schemas.microsoft.com/office/drawing/2014/main" id="{EE9A14AD-CBD2-23AE-EB5C-64E99D174107}"/>
              </a:ext>
            </a:extLst>
          </p:cNvPr>
          <p:cNvSpPr txBox="1"/>
          <p:nvPr/>
        </p:nvSpPr>
        <p:spPr>
          <a:xfrm>
            <a:off x="1053548" y="4468703"/>
            <a:ext cx="5416826" cy="338554"/>
          </a:xfrm>
          <a:prstGeom prst="rect">
            <a:avLst/>
          </a:prstGeom>
          <a:noFill/>
        </p:spPr>
        <p:txBody>
          <a:bodyPr wrap="square">
            <a:spAutoFit/>
          </a:bodyPr>
          <a:lstStyle/>
          <a:p>
            <a:pPr marL="0" indent="0" algn="l">
              <a:buNone/>
            </a:pPr>
            <a:r>
              <a:rPr lang="en-US" sz="1600" dirty="0">
                <a:solidFill>
                  <a:srgbClr val="91A2C9"/>
                </a:solidFill>
              </a:rPr>
              <a:t>Thành </a:t>
            </a:r>
            <a:r>
              <a:rPr lang="en-US" sz="1600" dirty="0" err="1">
                <a:solidFill>
                  <a:srgbClr val="91A2C9"/>
                </a:solidFill>
              </a:rPr>
              <a:t>viên</a:t>
            </a:r>
            <a:r>
              <a:rPr lang="en-US" sz="1600" dirty="0">
                <a:solidFill>
                  <a:srgbClr val="91A2C9"/>
                </a:solidFill>
              </a:rPr>
              <a:t>: </a:t>
            </a:r>
            <a:r>
              <a:rPr lang="vi-VN" sz="1600" dirty="0">
                <a:solidFill>
                  <a:srgbClr val="91A2C9"/>
                </a:solidFill>
              </a:rPr>
              <a:t>Nguyễn Thanh Phú – Lê Nguyễn Hoài Phong</a:t>
            </a:r>
            <a:endParaRPr lang="en-US" sz="1600" dirty="0">
              <a:solidFill>
                <a:srgbClr val="91A2C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Nội dung trình bày</a:t>
            </a:r>
            <a:endParaRPr lang="en-US" sz="3400" dirty="0"/>
          </a:p>
        </p:txBody>
      </p:sp>
      <p:sp>
        <p:nvSpPr>
          <p:cNvPr id="3" name="Khung tổng quan"/>
          <p:cNvSpPr/>
          <p:nvPr/>
        </p:nvSpPr>
        <p:spPr>
          <a:xfrm>
            <a:off x="457200" y="1280160"/>
            <a:ext cx="2834640" cy="3200400"/>
          </a:xfrm>
          <a:prstGeom prst="roundRect">
            <a:avLst>
              <a:gd name="adj" fmla="val 3871"/>
            </a:avLst>
          </a:prstGeom>
          <a:solidFill>
            <a:schemeClr val="tx2"/>
          </a:solidFill>
          <a:ln/>
        </p:spPr>
      </p:sp>
      <p:sp>
        <p:nvSpPr>
          <p:cNvPr id="4" name="Biểu tượng mục lục vòng tròn"/>
          <p:cNvSpPr/>
          <p:nvPr/>
        </p:nvSpPr>
        <p:spPr>
          <a:xfrm>
            <a:off x="777240" y="1600200"/>
            <a:ext cx="731520" cy="731520"/>
          </a:xfrm>
          <a:prstGeom prst="ellipse">
            <a:avLst/>
          </a:prstGeom>
          <a:solidFill>
            <a:schemeClr val="accent1"/>
          </a:solidFill>
          <a:ln/>
        </p:spPr>
      </p:sp>
      <p:pic>
        <p:nvPicPr>
          <p:cNvPr id="5" name="Biểu tượng mục lục" descr="Biểu tượng mục lục"/>
          <p:cNvPicPr>
            <a:picLocks noChangeAspect="1"/>
          </p:cNvPicPr>
          <p:nvPr/>
        </p:nvPicPr>
        <p:blipFill>
          <a:blip r:embed="rId3"/>
          <a:stretch>
            <a:fillRect/>
          </a:stretch>
        </p:blipFill>
        <p:spPr>
          <a:xfrm>
            <a:off x="960120" y="1783080"/>
            <a:ext cx="365760" cy="365760"/>
          </a:xfrm>
          <a:prstGeom prst="rect">
            <a:avLst/>
          </a:prstGeom>
        </p:spPr>
      </p:pic>
      <p:sp>
        <p:nvSpPr>
          <p:cNvPr id="6" name="Số phần"/>
          <p:cNvSpPr txBox="1"/>
          <p:nvPr/>
        </p:nvSpPr>
        <p:spPr>
          <a:xfrm>
            <a:off x="777240" y="2514600"/>
            <a:ext cx="2286000" cy="457200"/>
          </a:xfrm>
          <a:prstGeom prst="rect">
            <a:avLst/>
          </a:prstGeom>
          <a:noFill/>
          <a:ln/>
        </p:spPr>
        <p:txBody>
          <a:bodyPr wrap="square" lIns="0" tIns="0" rIns="0" bIns="0" rtlCol="0" anchor="ctr"/>
          <a:lstStyle/>
          <a:p>
            <a:pPr marL="0" indent="0">
              <a:buNone/>
            </a:pPr>
            <a:r>
              <a:rPr lang="en-US" sz="2400" b="1" dirty="0">
                <a:solidFill>
                  <a:schemeClr val="bg1"/>
                </a:solidFill>
              </a:rPr>
              <a:t>5 phần chính</a:t>
            </a:r>
            <a:endParaRPr lang="en-US" sz="2400" dirty="0"/>
          </a:p>
        </p:txBody>
      </p:sp>
      <p:sp>
        <p:nvSpPr>
          <p:cNvPr id="7" name="Mô tả mục lục"/>
          <p:cNvSpPr txBox="1"/>
          <p:nvPr/>
        </p:nvSpPr>
        <p:spPr>
          <a:xfrm>
            <a:off x="777240" y="3017520"/>
            <a:ext cx="2286000" cy="914400"/>
          </a:xfrm>
          <a:prstGeom prst="rect">
            <a:avLst/>
          </a:prstGeom>
          <a:noFill/>
          <a:ln/>
        </p:spPr>
        <p:txBody>
          <a:bodyPr wrap="square" lIns="0" tIns="0" rIns="0" bIns="0" rtlCol="0" anchor="t"/>
          <a:lstStyle/>
          <a:p>
            <a:pPr marL="0" indent="0">
              <a:buNone/>
            </a:pPr>
            <a:r>
              <a:rPr lang="en-US" sz="1400" dirty="0">
                <a:solidFill>
                  <a:schemeClr val="bg2"/>
                </a:solidFill>
              </a:rPr>
              <a:t>từ thực trạng sử dụng đến cách dùng AI có trách nhiệm</a:t>
            </a:r>
            <a:endParaRPr lang="en-US" sz="1400" dirty="0"/>
          </a:p>
        </p:txBody>
      </p:sp>
      <p:sp>
        <p:nvSpPr>
          <p:cNvPr id="8" name="Số thứ tự 1"/>
          <p:cNvSpPr/>
          <p:nvPr/>
        </p:nvSpPr>
        <p:spPr>
          <a:xfrm>
            <a:off x="3657600" y="1280160"/>
            <a:ext cx="457200" cy="457200"/>
          </a:xfrm>
          <a:prstGeom prst="ellipse">
            <a:avLst/>
          </a:prstGeom>
          <a:solidFill>
            <a:schemeClr val="accent2"/>
          </a:solidFill>
          <a:ln/>
        </p:spPr>
      </p:sp>
      <p:sp>
        <p:nvSpPr>
          <p:cNvPr id="9" name="Số 1"/>
          <p:cNvSpPr txBox="1"/>
          <p:nvPr/>
        </p:nvSpPr>
        <p:spPr>
          <a:xfrm>
            <a:off x="3657600" y="12801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10" name="Mục 1"/>
          <p:cNvSpPr txBox="1"/>
          <p:nvPr/>
        </p:nvSpPr>
        <p:spPr>
          <a:xfrm>
            <a:off x="4297680" y="1280160"/>
            <a:ext cx="4389120" cy="457200"/>
          </a:xfrm>
          <a:prstGeom prst="rect">
            <a:avLst/>
          </a:prstGeom>
          <a:noFill/>
          <a:ln/>
        </p:spPr>
        <p:txBody>
          <a:bodyPr wrap="square" lIns="0" tIns="0" rIns="0" bIns="0" rtlCol="0" anchor="ctr"/>
          <a:lstStyle/>
          <a:p>
            <a:pPr marL="0" indent="0">
              <a:buNone/>
            </a:pPr>
            <a:r>
              <a:rPr lang="en-US" sz="1800" dirty="0">
                <a:solidFill>
                  <a:schemeClr val="tx1"/>
                </a:solidFill>
              </a:rPr>
              <a:t>Tổng quan: AI trong học tập là gì</a:t>
            </a:r>
            <a:endParaRPr lang="en-US" sz="1800" dirty="0"/>
          </a:p>
        </p:txBody>
      </p:sp>
      <p:sp>
        <p:nvSpPr>
          <p:cNvPr id="11" name="Số thứ tự 2"/>
          <p:cNvSpPr/>
          <p:nvPr/>
        </p:nvSpPr>
        <p:spPr>
          <a:xfrm>
            <a:off x="3657600" y="1938528"/>
            <a:ext cx="457200" cy="457200"/>
          </a:xfrm>
          <a:prstGeom prst="ellipse">
            <a:avLst/>
          </a:prstGeom>
          <a:solidFill>
            <a:schemeClr val="accent2"/>
          </a:solidFill>
          <a:ln/>
        </p:spPr>
      </p:sp>
      <p:sp>
        <p:nvSpPr>
          <p:cNvPr id="12" name="Số 2"/>
          <p:cNvSpPr txBox="1"/>
          <p:nvPr/>
        </p:nvSpPr>
        <p:spPr>
          <a:xfrm>
            <a:off x="3657600" y="1938528"/>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3" name="Mục 2"/>
          <p:cNvSpPr txBox="1"/>
          <p:nvPr/>
        </p:nvSpPr>
        <p:spPr>
          <a:xfrm>
            <a:off x="4297680" y="1938528"/>
            <a:ext cx="4389120" cy="457200"/>
          </a:xfrm>
          <a:prstGeom prst="rect">
            <a:avLst/>
          </a:prstGeom>
          <a:noFill/>
          <a:ln/>
        </p:spPr>
        <p:txBody>
          <a:bodyPr wrap="square" lIns="0" tIns="0" rIns="0" bIns="0" rtlCol="0" anchor="ctr"/>
          <a:lstStyle/>
          <a:p>
            <a:pPr marL="0" indent="0">
              <a:buNone/>
            </a:pPr>
            <a:r>
              <a:rPr lang="en-US" sz="1800" dirty="0">
                <a:solidFill>
                  <a:schemeClr val="tx1"/>
                </a:solidFill>
              </a:rPr>
              <a:t>Mức độ phổ biến và các ứng dụng chính</a:t>
            </a:r>
            <a:endParaRPr lang="en-US" sz="1800" dirty="0"/>
          </a:p>
        </p:txBody>
      </p:sp>
      <p:sp>
        <p:nvSpPr>
          <p:cNvPr id="14" name="Số thứ tự 3"/>
          <p:cNvSpPr/>
          <p:nvPr/>
        </p:nvSpPr>
        <p:spPr>
          <a:xfrm>
            <a:off x="3657600" y="2596896"/>
            <a:ext cx="457200" cy="457200"/>
          </a:xfrm>
          <a:prstGeom prst="ellipse">
            <a:avLst/>
          </a:prstGeom>
          <a:solidFill>
            <a:schemeClr val="accent2"/>
          </a:solidFill>
          <a:ln/>
        </p:spPr>
      </p:sp>
      <p:sp>
        <p:nvSpPr>
          <p:cNvPr id="15" name="Số 3"/>
          <p:cNvSpPr txBox="1"/>
          <p:nvPr/>
        </p:nvSpPr>
        <p:spPr>
          <a:xfrm>
            <a:off x="3657600" y="2596896"/>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6" name="Mục 3"/>
          <p:cNvSpPr txBox="1"/>
          <p:nvPr/>
        </p:nvSpPr>
        <p:spPr>
          <a:xfrm>
            <a:off x="4297680" y="2596896"/>
            <a:ext cx="4389120" cy="457200"/>
          </a:xfrm>
          <a:prstGeom prst="rect">
            <a:avLst/>
          </a:prstGeom>
          <a:noFill/>
          <a:ln/>
        </p:spPr>
        <p:txBody>
          <a:bodyPr wrap="square" lIns="0" tIns="0" rIns="0" bIns="0" rtlCol="0" anchor="ctr"/>
          <a:lstStyle/>
          <a:p>
            <a:pPr marL="0" indent="0">
              <a:buNone/>
            </a:pPr>
            <a:r>
              <a:rPr lang="en-US" sz="1800" dirty="0">
                <a:solidFill>
                  <a:schemeClr val="tx1"/>
                </a:solidFill>
              </a:rPr>
              <a:t>Lợi ích và rủi ro</a:t>
            </a:r>
            <a:endParaRPr lang="en-US" sz="1800" dirty="0"/>
          </a:p>
        </p:txBody>
      </p:sp>
      <p:sp>
        <p:nvSpPr>
          <p:cNvPr id="17" name="Số thứ tự 4"/>
          <p:cNvSpPr/>
          <p:nvPr/>
        </p:nvSpPr>
        <p:spPr>
          <a:xfrm>
            <a:off x="3657600" y="3255264"/>
            <a:ext cx="457200" cy="457200"/>
          </a:xfrm>
          <a:prstGeom prst="ellipse">
            <a:avLst/>
          </a:prstGeom>
          <a:solidFill>
            <a:schemeClr val="accent2"/>
          </a:solidFill>
          <a:ln/>
        </p:spPr>
      </p:sp>
      <p:sp>
        <p:nvSpPr>
          <p:cNvPr id="18" name="Số 4"/>
          <p:cNvSpPr txBox="1"/>
          <p:nvPr/>
        </p:nvSpPr>
        <p:spPr>
          <a:xfrm>
            <a:off x="3657600" y="3255264"/>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Mục 4"/>
          <p:cNvSpPr txBox="1"/>
          <p:nvPr/>
        </p:nvSpPr>
        <p:spPr>
          <a:xfrm>
            <a:off x="4297680" y="3255264"/>
            <a:ext cx="4389120" cy="457200"/>
          </a:xfrm>
          <a:prstGeom prst="rect">
            <a:avLst/>
          </a:prstGeom>
          <a:noFill/>
          <a:ln/>
        </p:spPr>
        <p:txBody>
          <a:bodyPr wrap="square" lIns="0" tIns="0" rIns="0" bIns="0" rtlCol="0" anchor="ctr"/>
          <a:lstStyle/>
          <a:p>
            <a:pPr marL="0" indent="0">
              <a:buNone/>
            </a:pPr>
            <a:r>
              <a:rPr lang="en-US" sz="1800" dirty="0">
                <a:solidFill>
                  <a:schemeClr val="tx1"/>
                </a:solidFill>
              </a:rPr>
              <a:t>Sử dụng AI có trách nhiệm</a:t>
            </a:r>
            <a:endParaRPr lang="en-US" sz="1800" dirty="0"/>
          </a:p>
        </p:txBody>
      </p:sp>
      <p:sp>
        <p:nvSpPr>
          <p:cNvPr id="20" name="Số thứ tự 5"/>
          <p:cNvSpPr/>
          <p:nvPr/>
        </p:nvSpPr>
        <p:spPr>
          <a:xfrm>
            <a:off x="3657600" y="3913632"/>
            <a:ext cx="457200" cy="457200"/>
          </a:xfrm>
          <a:prstGeom prst="ellipse">
            <a:avLst/>
          </a:prstGeom>
          <a:solidFill>
            <a:schemeClr val="accent2"/>
          </a:solidFill>
          <a:ln/>
        </p:spPr>
      </p:sp>
      <p:sp>
        <p:nvSpPr>
          <p:cNvPr id="21" name="Số 5"/>
          <p:cNvSpPr txBox="1"/>
          <p:nvPr/>
        </p:nvSpPr>
        <p:spPr>
          <a:xfrm>
            <a:off x="3657600" y="3913632"/>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2" name="Mục 5"/>
          <p:cNvSpPr txBox="1"/>
          <p:nvPr/>
        </p:nvSpPr>
        <p:spPr>
          <a:xfrm>
            <a:off x="4297680" y="3913632"/>
            <a:ext cx="4389120" cy="457200"/>
          </a:xfrm>
          <a:prstGeom prst="rect">
            <a:avLst/>
          </a:prstGeom>
          <a:noFill/>
          <a:ln/>
        </p:spPr>
        <p:txBody>
          <a:bodyPr wrap="square" lIns="0" tIns="0" rIns="0" bIns="0" rtlCol="0" anchor="ctr"/>
          <a:lstStyle/>
          <a:p>
            <a:pPr marL="0" indent="0">
              <a:buNone/>
            </a:pPr>
            <a:r>
              <a:rPr lang="en-US" sz="1800" dirty="0">
                <a:solidFill>
                  <a:schemeClr val="tx1"/>
                </a:solidFill>
              </a:rPr>
              <a:t>Đánh giá nguồn (CRAAP), video và thảo luận</a:t>
            </a:r>
            <a:endParaRPr lang="en-US" sz="18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AI trong học tập là gì?</a:t>
            </a:r>
            <a:endParaRPr lang="en-US" sz="3400" dirty="0"/>
          </a:p>
        </p:txBody>
      </p:sp>
      <p:sp>
        <p:nvSpPr>
          <p:cNvPr id="3" name="Định nghĩa"/>
          <p:cNvSpPr txBox="1"/>
          <p:nvPr/>
        </p:nvSpPr>
        <p:spPr>
          <a:xfrm>
            <a:off x="457200" y="1188720"/>
            <a:ext cx="8229600" cy="685800"/>
          </a:xfrm>
          <a:prstGeom prst="rect">
            <a:avLst/>
          </a:prstGeom>
          <a:noFill/>
          <a:ln/>
        </p:spPr>
        <p:txBody>
          <a:bodyPr wrap="square" lIns="0" tIns="0" rIns="0" bIns="0" rtlCol="0" anchor="t"/>
          <a:lstStyle/>
          <a:p>
            <a:pPr marL="0" indent="0">
              <a:buNone/>
            </a:pPr>
            <a:r>
              <a:rPr lang="en-US" sz="1600" dirty="0">
                <a:solidFill>
                  <a:schemeClr val="tx1"/>
                </a:solidFill>
              </a:rPr>
              <a:t>AI tạo sinh (như ChatGPT) có thể giải thích, trả lời câu hỏi, tóm tắt và viết văn bản, nên đang được dùng làm công cụ hỗ trợ việc học.</a:t>
            </a:r>
            <a:endParaRPr lang="en-US" sz="1600" dirty="0"/>
          </a:p>
        </p:txBody>
      </p:sp>
      <p:sp>
        <p:nvSpPr>
          <p:cNvPr id="4" name="Thẻ Gia sư và trợ giảng ảo"/>
          <p:cNvSpPr/>
          <p:nvPr/>
        </p:nvSpPr>
        <p:spPr>
          <a:xfrm>
            <a:off x="457200" y="2011680"/>
            <a:ext cx="2560320" cy="2468880"/>
          </a:xfrm>
          <a:prstGeom prst="roundRect">
            <a:avLst>
              <a:gd name="adj" fmla="val 4444"/>
            </a:avLst>
          </a:prstGeom>
          <a:solidFill>
            <a:schemeClr val="bg2"/>
          </a:solidFill>
          <a:ln/>
        </p:spPr>
      </p:sp>
      <p:sp>
        <p:nvSpPr>
          <p:cNvPr id="5" name="Biểu tượng Gia sư và trợ giảng ảo vòng tròn"/>
          <p:cNvSpPr/>
          <p:nvPr/>
        </p:nvSpPr>
        <p:spPr>
          <a:xfrm>
            <a:off x="685800" y="2194560"/>
            <a:ext cx="594360" cy="594360"/>
          </a:xfrm>
          <a:prstGeom prst="ellipse">
            <a:avLst/>
          </a:prstGeom>
          <a:solidFill>
            <a:schemeClr val="accent2"/>
          </a:solidFill>
          <a:ln/>
        </p:spPr>
      </p:sp>
      <p:pic>
        <p:nvPicPr>
          <p:cNvPr id="6" name="Biểu tượng Gia sư và trợ giảng ảo" descr="Biểu tượng Gia sư và trợ giảng ảo"/>
          <p:cNvPicPr>
            <a:picLocks noChangeAspect="1"/>
          </p:cNvPicPr>
          <p:nvPr/>
        </p:nvPicPr>
        <p:blipFill>
          <a:blip r:embed="rId3"/>
          <a:stretch>
            <a:fillRect/>
          </a:stretch>
        </p:blipFill>
        <p:spPr>
          <a:xfrm>
            <a:off x="834390" y="2343150"/>
            <a:ext cx="297180" cy="297180"/>
          </a:xfrm>
          <a:prstGeom prst="rect">
            <a:avLst/>
          </a:prstGeom>
        </p:spPr>
      </p:pic>
      <p:sp>
        <p:nvSpPr>
          <p:cNvPr id="7" name="Tiêu đề Gia sư và trợ giảng ảo"/>
          <p:cNvSpPr txBox="1"/>
          <p:nvPr/>
        </p:nvSpPr>
        <p:spPr>
          <a:xfrm>
            <a:off x="685800" y="2880360"/>
            <a:ext cx="2194560" cy="365760"/>
          </a:xfrm>
          <a:prstGeom prst="rect">
            <a:avLst/>
          </a:prstGeom>
          <a:noFill/>
          <a:ln/>
        </p:spPr>
        <p:txBody>
          <a:bodyPr wrap="square" lIns="0" tIns="0" rIns="0" bIns="0" rtlCol="0" anchor="ctr"/>
          <a:lstStyle/>
          <a:p>
            <a:pPr marL="0" indent="0">
              <a:buNone/>
            </a:pPr>
            <a:r>
              <a:rPr lang="en-US" sz="1800" b="1" dirty="0">
                <a:solidFill>
                  <a:schemeClr val="tx2"/>
                </a:solidFill>
              </a:rPr>
              <a:t>Gia sư và trợ giảng ảo</a:t>
            </a:r>
            <a:endParaRPr lang="en-US" sz="1800" dirty="0"/>
          </a:p>
        </p:txBody>
      </p:sp>
      <p:sp>
        <p:nvSpPr>
          <p:cNvPr id="8" name="Mô tả Gia sư và trợ giảng ảo"/>
          <p:cNvSpPr txBox="1"/>
          <p:nvPr/>
        </p:nvSpPr>
        <p:spPr>
          <a:xfrm>
            <a:off x="685800" y="3291840"/>
            <a:ext cx="2148840" cy="1097280"/>
          </a:xfrm>
          <a:prstGeom prst="rect">
            <a:avLst/>
          </a:prstGeom>
          <a:noFill/>
          <a:ln/>
        </p:spPr>
        <p:txBody>
          <a:bodyPr wrap="square" lIns="0" tIns="0" rIns="0" bIns="0" rtlCol="0" anchor="t"/>
          <a:lstStyle/>
          <a:p>
            <a:pPr marL="0" indent="0">
              <a:buNone/>
            </a:pPr>
            <a:r>
              <a:rPr lang="en-US" sz="1400" dirty="0">
                <a:solidFill>
                  <a:schemeClr val="tx1"/>
                </a:solidFill>
              </a:rPr>
              <a:t>Giải thích theo trình độ, đặt câu hỏi gợi mở và phản hồi tức thì.</a:t>
            </a:r>
            <a:endParaRPr lang="en-US" sz="1400" dirty="0"/>
          </a:p>
        </p:txBody>
      </p:sp>
      <p:sp>
        <p:nvSpPr>
          <p:cNvPr id="9" name="Thẻ Hỗ trợ đọc và viết"/>
          <p:cNvSpPr/>
          <p:nvPr/>
        </p:nvSpPr>
        <p:spPr>
          <a:xfrm>
            <a:off x="3291840" y="2011680"/>
            <a:ext cx="2560320" cy="2468880"/>
          </a:xfrm>
          <a:prstGeom prst="roundRect">
            <a:avLst>
              <a:gd name="adj" fmla="val 4444"/>
            </a:avLst>
          </a:prstGeom>
          <a:solidFill>
            <a:schemeClr val="bg2"/>
          </a:solidFill>
          <a:ln/>
        </p:spPr>
      </p:sp>
      <p:sp>
        <p:nvSpPr>
          <p:cNvPr id="10" name="Biểu tượng Hỗ trợ đọc và viết vòng tròn"/>
          <p:cNvSpPr/>
          <p:nvPr/>
        </p:nvSpPr>
        <p:spPr>
          <a:xfrm>
            <a:off x="3520440" y="2194560"/>
            <a:ext cx="594360" cy="594360"/>
          </a:xfrm>
          <a:prstGeom prst="ellipse">
            <a:avLst/>
          </a:prstGeom>
          <a:solidFill>
            <a:schemeClr val="accent2"/>
          </a:solidFill>
          <a:ln/>
        </p:spPr>
      </p:sp>
      <p:pic>
        <p:nvPicPr>
          <p:cNvPr id="11" name="Biểu tượng Hỗ trợ đọc và viết" descr="Biểu tượng Hỗ trợ đọc và viết"/>
          <p:cNvPicPr>
            <a:picLocks noChangeAspect="1"/>
          </p:cNvPicPr>
          <p:nvPr/>
        </p:nvPicPr>
        <p:blipFill>
          <a:blip r:embed="rId4"/>
          <a:stretch>
            <a:fillRect/>
          </a:stretch>
        </p:blipFill>
        <p:spPr>
          <a:xfrm>
            <a:off x="3669030" y="2343150"/>
            <a:ext cx="297180" cy="297180"/>
          </a:xfrm>
          <a:prstGeom prst="rect">
            <a:avLst/>
          </a:prstGeom>
        </p:spPr>
      </p:pic>
      <p:sp>
        <p:nvSpPr>
          <p:cNvPr id="12" name="Tiêu đề Hỗ trợ đọc và viết"/>
          <p:cNvSpPr txBox="1"/>
          <p:nvPr/>
        </p:nvSpPr>
        <p:spPr>
          <a:xfrm>
            <a:off x="3520440" y="2880360"/>
            <a:ext cx="2194560" cy="365760"/>
          </a:xfrm>
          <a:prstGeom prst="rect">
            <a:avLst/>
          </a:prstGeom>
          <a:noFill/>
          <a:ln/>
        </p:spPr>
        <p:txBody>
          <a:bodyPr wrap="square" lIns="0" tIns="0" rIns="0" bIns="0" rtlCol="0" anchor="ctr"/>
          <a:lstStyle/>
          <a:p>
            <a:pPr marL="0" indent="0">
              <a:buNone/>
            </a:pPr>
            <a:r>
              <a:rPr lang="en-US" sz="1800" b="1" dirty="0">
                <a:solidFill>
                  <a:schemeClr val="tx2"/>
                </a:solidFill>
              </a:rPr>
              <a:t>Hỗ trợ đọc và viết</a:t>
            </a:r>
            <a:endParaRPr lang="en-US" sz="1800" dirty="0"/>
          </a:p>
        </p:txBody>
      </p:sp>
      <p:sp>
        <p:nvSpPr>
          <p:cNvPr id="13" name="Mô tả Hỗ trợ đọc và viết"/>
          <p:cNvSpPr txBox="1"/>
          <p:nvPr/>
        </p:nvSpPr>
        <p:spPr>
          <a:xfrm>
            <a:off x="3520440" y="3291840"/>
            <a:ext cx="2148840" cy="1097280"/>
          </a:xfrm>
          <a:prstGeom prst="rect">
            <a:avLst/>
          </a:prstGeom>
          <a:noFill/>
          <a:ln/>
        </p:spPr>
        <p:txBody>
          <a:bodyPr wrap="square" lIns="0" tIns="0" rIns="0" bIns="0" rtlCol="0" anchor="t"/>
          <a:lstStyle/>
          <a:p>
            <a:pPr marL="0" indent="0">
              <a:buNone/>
            </a:pPr>
            <a:r>
              <a:rPr lang="en-US" sz="1400" dirty="0">
                <a:solidFill>
                  <a:schemeClr val="tx1"/>
                </a:solidFill>
              </a:rPr>
              <a:t>Tìm thông tin, kiểm tra ngữ pháp, tóm tắt và diễn đạt lại tài liệu.</a:t>
            </a:r>
            <a:endParaRPr lang="en-US" sz="1400" dirty="0"/>
          </a:p>
        </p:txBody>
      </p:sp>
      <p:sp>
        <p:nvSpPr>
          <p:cNvPr id="14" name="Thẻ Học tập cá nhân hóa"/>
          <p:cNvSpPr/>
          <p:nvPr/>
        </p:nvSpPr>
        <p:spPr>
          <a:xfrm>
            <a:off x="6126480" y="2011680"/>
            <a:ext cx="2560320" cy="2468880"/>
          </a:xfrm>
          <a:prstGeom prst="roundRect">
            <a:avLst>
              <a:gd name="adj" fmla="val 4444"/>
            </a:avLst>
          </a:prstGeom>
          <a:solidFill>
            <a:schemeClr val="bg2"/>
          </a:solidFill>
          <a:ln/>
        </p:spPr>
      </p:sp>
      <p:sp>
        <p:nvSpPr>
          <p:cNvPr id="15" name="Biểu tượng Học tập cá nhân hóa vòng tròn"/>
          <p:cNvSpPr/>
          <p:nvPr/>
        </p:nvSpPr>
        <p:spPr>
          <a:xfrm>
            <a:off x="6355080" y="2194560"/>
            <a:ext cx="594360" cy="594360"/>
          </a:xfrm>
          <a:prstGeom prst="ellipse">
            <a:avLst/>
          </a:prstGeom>
          <a:solidFill>
            <a:schemeClr val="accent2"/>
          </a:solidFill>
          <a:ln/>
        </p:spPr>
      </p:sp>
      <p:pic>
        <p:nvPicPr>
          <p:cNvPr id="16" name="Biểu tượng Học tập cá nhân hóa" descr="Biểu tượng Học tập cá nhân hóa"/>
          <p:cNvPicPr>
            <a:picLocks noChangeAspect="1"/>
          </p:cNvPicPr>
          <p:nvPr/>
        </p:nvPicPr>
        <p:blipFill>
          <a:blip r:embed="rId5"/>
          <a:stretch>
            <a:fillRect/>
          </a:stretch>
        </p:blipFill>
        <p:spPr>
          <a:xfrm>
            <a:off x="6503670" y="2343150"/>
            <a:ext cx="297180" cy="297180"/>
          </a:xfrm>
          <a:prstGeom prst="rect">
            <a:avLst/>
          </a:prstGeom>
        </p:spPr>
      </p:pic>
      <p:sp>
        <p:nvSpPr>
          <p:cNvPr id="17" name="Tiêu đề Học tập cá nhân hóa"/>
          <p:cNvSpPr txBox="1"/>
          <p:nvPr/>
        </p:nvSpPr>
        <p:spPr>
          <a:xfrm>
            <a:off x="6355080" y="2880360"/>
            <a:ext cx="2194560" cy="365760"/>
          </a:xfrm>
          <a:prstGeom prst="rect">
            <a:avLst/>
          </a:prstGeom>
          <a:noFill/>
          <a:ln/>
        </p:spPr>
        <p:txBody>
          <a:bodyPr wrap="square" lIns="0" tIns="0" rIns="0" bIns="0" rtlCol="0" anchor="ctr"/>
          <a:lstStyle/>
          <a:p>
            <a:pPr marL="0" indent="0">
              <a:buNone/>
            </a:pPr>
            <a:r>
              <a:rPr lang="en-US" sz="1800" b="1" dirty="0">
                <a:solidFill>
                  <a:schemeClr val="tx2"/>
                </a:solidFill>
              </a:rPr>
              <a:t>Học tập cá nhân hóa</a:t>
            </a:r>
            <a:endParaRPr lang="en-US" sz="1800" dirty="0"/>
          </a:p>
        </p:txBody>
      </p:sp>
      <p:sp>
        <p:nvSpPr>
          <p:cNvPr id="18" name="Mô tả Học tập cá nhân hóa"/>
          <p:cNvSpPr txBox="1"/>
          <p:nvPr/>
        </p:nvSpPr>
        <p:spPr>
          <a:xfrm>
            <a:off x="6355080" y="3291840"/>
            <a:ext cx="2148840" cy="1097280"/>
          </a:xfrm>
          <a:prstGeom prst="rect">
            <a:avLst/>
          </a:prstGeom>
          <a:noFill/>
          <a:ln/>
        </p:spPr>
        <p:txBody>
          <a:bodyPr wrap="square" lIns="0" tIns="0" rIns="0" bIns="0" rtlCol="0" anchor="t"/>
          <a:lstStyle/>
          <a:p>
            <a:pPr marL="0" indent="0">
              <a:buNone/>
            </a:pPr>
            <a:r>
              <a:rPr lang="en-US" sz="1400" dirty="0">
                <a:solidFill>
                  <a:schemeClr val="tx1"/>
                </a:solidFill>
              </a:rPr>
              <a:t>Điều chỉnh nội dung theo nhu cầu, kể cả người học khuyết tật.</a:t>
            </a:r>
            <a:endParaRPr lang="en-US" sz="1400" dirty="0"/>
          </a:p>
        </p:txBody>
      </p:sp>
      <p:sp>
        <p:nvSpPr>
          <p:cNvPr id="19" name="Nguồn"/>
          <p:cNvSpPr txBox="1"/>
          <p:nvPr/>
        </p:nvSpPr>
        <p:spPr>
          <a:xfrm>
            <a:off x="457200" y="4617720"/>
            <a:ext cx="7589520" cy="320040"/>
          </a:xfrm>
          <a:prstGeom prst="rect">
            <a:avLst/>
          </a:prstGeom>
          <a:noFill/>
          <a:ln/>
        </p:spPr>
        <p:txBody>
          <a:bodyPr wrap="square" lIns="0" tIns="0" rIns="0" bIns="0" rtlCol="0" anchor="ctr"/>
          <a:lstStyle/>
          <a:p>
            <a:pPr marL="0" indent="0">
              <a:buNone/>
            </a:pPr>
            <a:r>
              <a:rPr lang="en-US" sz="1100" i="1" dirty="0">
                <a:solidFill>
                  <a:schemeClr val="accent5"/>
                </a:solidFill>
              </a:rPr>
              <a:t>Nguồn: Kasneci et al. (2023); OECD (2026); Digital Education Council (2024)</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AI đã phổ biến đến đâu?</a:t>
            </a:r>
            <a:endParaRPr lang="en-US" sz="3400" dirty="0"/>
          </a:p>
        </p:txBody>
      </p:sp>
      <p:sp>
        <p:nvSpPr>
          <p:cNvPr id="3" name="Thẻ số liệu 1"/>
          <p:cNvSpPr/>
          <p:nvPr/>
        </p:nvSpPr>
        <p:spPr>
          <a:xfrm>
            <a:off x="457200" y="1280160"/>
            <a:ext cx="1920240" cy="2514600"/>
          </a:xfrm>
          <a:prstGeom prst="roundRect">
            <a:avLst>
              <a:gd name="adj" fmla="val 5714"/>
            </a:avLst>
          </a:prstGeom>
          <a:solidFill>
            <a:schemeClr val="bg2"/>
          </a:solidFill>
          <a:ln/>
        </p:spPr>
      </p:sp>
      <p:sp>
        <p:nvSpPr>
          <p:cNvPr id="4" name="Số liệu 1"/>
          <p:cNvSpPr txBox="1"/>
          <p:nvPr/>
        </p:nvSpPr>
        <p:spPr>
          <a:xfrm>
            <a:off x="640080" y="1417320"/>
            <a:ext cx="155448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86%</a:t>
            </a:r>
            <a:endParaRPr lang="en-US" sz="4400" dirty="0"/>
          </a:p>
        </p:txBody>
      </p:sp>
      <p:sp>
        <p:nvSpPr>
          <p:cNvPr id="5" name="Chú giải số liệu 1"/>
          <p:cNvSpPr txBox="1"/>
          <p:nvPr/>
        </p:nvSpPr>
        <p:spPr>
          <a:xfrm>
            <a:off x="640080" y="2286000"/>
            <a:ext cx="1600200" cy="1417320"/>
          </a:xfrm>
          <a:prstGeom prst="rect">
            <a:avLst/>
          </a:prstGeom>
          <a:noFill/>
          <a:ln/>
        </p:spPr>
        <p:txBody>
          <a:bodyPr wrap="square" lIns="0" tIns="0" rIns="0" bIns="0" rtlCol="0" anchor="t"/>
          <a:lstStyle/>
          <a:p>
            <a:pPr marL="0" indent="0">
              <a:buNone/>
            </a:pPr>
            <a:r>
              <a:rPr lang="en-US" sz="1400" dirty="0">
                <a:solidFill>
                  <a:schemeClr val="tx1"/>
                </a:solidFill>
              </a:rPr>
              <a:t>sinh viên dùng AI trong học tập (khảo sát 3.839 sinh viên, 16 quốc gia)</a:t>
            </a:r>
            <a:endParaRPr lang="en-US" sz="1400" dirty="0"/>
          </a:p>
        </p:txBody>
      </p:sp>
      <p:sp>
        <p:nvSpPr>
          <p:cNvPr id="6" name="Thẻ số liệu 2"/>
          <p:cNvSpPr/>
          <p:nvPr/>
        </p:nvSpPr>
        <p:spPr>
          <a:xfrm>
            <a:off x="2560320" y="1280160"/>
            <a:ext cx="1920240" cy="2514600"/>
          </a:xfrm>
          <a:prstGeom prst="roundRect">
            <a:avLst>
              <a:gd name="adj" fmla="val 5714"/>
            </a:avLst>
          </a:prstGeom>
          <a:solidFill>
            <a:schemeClr val="bg2"/>
          </a:solidFill>
          <a:ln/>
        </p:spPr>
      </p:sp>
      <p:sp>
        <p:nvSpPr>
          <p:cNvPr id="7" name="Số liệu 2"/>
          <p:cNvSpPr txBox="1"/>
          <p:nvPr/>
        </p:nvSpPr>
        <p:spPr>
          <a:xfrm>
            <a:off x="2743200" y="1417320"/>
            <a:ext cx="155448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2,1</a:t>
            </a:r>
            <a:endParaRPr lang="en-US" sz="4400" dirty="0"/>
          </a:p>
        </p:txBody>
      </p:sp>
      <p:sp>
        <p:nvSpPr>
          <p:cNvPr id="8" name="Chú giải số liệu 2"/>
          <p:cNvSpPr txBox="1"/>
          <p:nvPr/>
        </p:nvSpPr>
        <p:spPr>
          <a:xfrm>
            <a:off x="2743200" y="2286000"/>
            <a:ext cx="1600200" cy="1417320"/>
          </a:xfrm>
          <a:prstGeom prst="rect">
            <a:avLst/>
          </a:prstGeom>
          <a:noFill/>
          <a:ln/>
        </p:spPr>
        <p:txBody>
          <a:bodyPr wrap="square" lIns="0" tIns="0" rIns="0" bIns="0" rtlCol="0" anchor="t"/>
          <a:lstStyle/>
          <a:p>
            <a:pPr marL="0" indent="0">
              <a:buNone/>
            </a:pPr>
            <a:r>
              <a:rPr lang="en-US" sz="1400" dirty="0">
                <a:solidFill>
                  <a:schemeClr val="tx1"/>
                </a:solidFill>
              </a:rPr>
              <a:t>công cụ AI được mỗi sinh viên dùng, tính trung bình</a:t>
            </a:r>
            <a:endParaRPr lang="en-US" sz="1400" dirty="0"/>
          </a:p>
        </p:txBody>
      </p:sp>
      <p:sp>
        <p:nvSpPr>
          <p:cNvPr id="9" name="Thẻ số liệu 3"/>
          <p:cNvSpPr/>
          <p:nvPr/>
        </p:nvSpPr>
        <p:spPr>
          <a:xfrm>
            <a:off x="4663440" y="1280160"/>
            <a:ext cx="1920240" cy="2514600"/>
          </a:xfrm>
          <a:prstGeom prst="roundRect">
            <a:avLst>
              <a:gd name="adj" fmla="val 5714"/>
            </a:avLst>
          </a:prstGeom>
          <a:solidFill>
            <a:schemeClr val="bg2"/>
          </a:solidFill>
          <a:ln/>
        </p:spPr>
      </p:sp>
      <p:sp>
        <p:nvSpPr>
          <p:cNvPr id="10" name="Số liệu 3"/>
          <p:cNvSpPr txBox="1"/>
          <p:nvPr/>
        </p:nvSpPr>
        <p:spPr>
          <a:xfrm>
            <a:off x="4846320" y="1417320"/>
            <a:ext cx="155448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37%</a:t>
            </a:r>
            <a:endParaRPr lang="en-US" sz="4400" dirty="0"/>
          </a:p>
        </p:txBody>
      </p:sp>
      <p:sp>
        <p:nvSpPr>
          <p:cNvPr id="11" name="Chú giải số liệu 3"/>
          <p:cNvSpPr txBox="1"/>
          <p:nvPr/>
        </p:nvSpPr>
        <p:spPr>
          <a:xfrm>
            <a:off x="4846320" y="2286000"/>
            <a:ext cx="1600200" cy="1417320"/>
          </a:xfrm>
          <a:prstGeom prst="rect">
            <a:avLst/>
          </a:prstGeom>
          <a:noFill/>
          <a:ln/>
        </p:spPr>
        <p:txBody>
          <a:bodyPr wrap="square" lIns="0" tIns="0" rIns="0" bIns="0" rtlCol="0" anchor="t"/>
          <a:lstStyle/>
          <a:p>
            <a:pPr marL="0" indent="0">
              <a:buNone/>
            </a:pPr>
            <a:r>
              <a:rPr lang="en-US" sz="1400" dirty="0">
                <a:solidFill>
                  <a:schemeClr val="tx1"/>
                </a:solidFill>
              </a:rPr>
              <a:t>giáo viên trung học cơ sở dùng AI trong công việc năm 2024</a:t>
            </a:r>
            <a:endParaRPr lang="en-US" sz="1400" dirty="0"/>
          </a:p>
        </p:txBody>
      </p:sp>
      <p:sp>
        <p:nvSpPr>
          <p:cNvPr id="12" name="Thẻ số liệu 4"/>
          <p:cNvSpPr/>
          <p:nvPr/>
        </p:nvSpPr>
        <p:spPr>
          <a:xfrm>
            <a:off x="6766560" y="1280160"/>
            <a:ext cx="1920240" cy="2514600"/>
          </a:xfrm>
          <a:prstGeom prst="roundRect">
            <a:avLst>
              <a:gd name="adj" fmla="val 5714"/>
            </a:avLst>
          </a:prstGeom>
          <a:solidFill>
            <a:schemeClr val="bg2"/>
          </a:solidFill>
          <a:ln/>
        </p:spPr>
      </p:sp>
      <p:sp>
        <p:nvSpPr>
          <p:cNvPr id="13" name="Số liệu 4"/>
          <p:cNvSpPr txBox="1"/>
          <p:nvPr/>
        </p:nvSpPr>
        <p:spPr>
          <a:xfrm>
            <a:off x="6949440" y="1417320"/>
            <a:ext cx="1554480" cy="82296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ea typeface="Cambria" pitchFamily="34" charset="-122"/>
                <a:cs typeface="Cambria" pitchFamily="34" charset="-120"/>
              </a:rPr>
              <a:t>80%</a:t>
            </a:r>
            <a:endParaRPr lang="en-US" sz="4400" dirty="0"/>
          </a:p>
        </p:txBody>
      </p:sp>
      <p:sp>
        <p:nvSpPr>
          <p:cNvPr id="14" name="Chú giải số liệu 4"/>
          <p:cNvSpPr txBox="1"/>
          <p:nvPr/>
        </p:nvSpPr>
        <p:spPr>
          <a:xfrm>
            <a:off x="6949440" y="2286000"/>
            <a:ext cx="1600200" cy="1417320"/>
          </a:xfrm>
          <a:prstGeom prst="rect">
            <a:avLst/>
          </a:prstGeom>
          <a:noFill/>
          <a:ln/>
        </p:spPr>
        <p:txBody>
          <a:bodyPr wrap="square" lIns="0" tIns="0" rIns="0" bIns="0" rtlCol="0" anchor="t"/>
          <a:lstStyle/>
          <a:p>
            <a:pPr marL="0" indent="0">
              <a:buNone/>
            </a:pPr>
            <a:r>
              <a:rPr lang="en-US" sz="1400" dirty="0">
                <a:solidFill>
                  <a:schemeClr val="tx1"/>
                </a:solidFill>
              </a:rPr>
              <a:t>sinh viên cho rằng việc trường tích hợp AI chưa đáp ứng đầy đủ kỳ vọng</a:t>
            </a:r>
            <a:endParaRPr lang="en-US" sz="1400" dirty="0"/>
          </a:p>
        </p:txBody>
      </p:sp>
      <p:sp>
        <p:nvSpPr>
          <p:cNvPr id="15" name="Thông điệp chính"/>
          <p:cNvSpPr txBox="1"/>
          <p:nvPr/>
        </p:nvSpPr>
        <p:spPr>
          <a:xfrm>
            <a:off x="457200" y="3931920"/>
            <a:ext cx="8229600" cy="548640"/>
          </a:xfrm>
          <a:prstGeom prst="rect">
            <a:avLst/>
          </a:prstGeom>
          <a:noFill/>
          <a:ln/>
        </p:spPr>
        <p:txBody>
          <a:bodyPr wrap="square" lIns="0" tIns="0" rIns="0" bIns="0" rtlCol="0" anchor="ctr"/>
          <a:lstStyle/>
          <a:p>
            <a:pPr marL="0" indent="0">
              <a:buNone/>
            </a:pPr>
            <a:r>
              <a:rPr lang="en-US" sz="1800" i="1" dirty="0">
                <a:solidFill>
                  <a:schemeClr val="tx2"/>
                </a:solidFill>
              </a:rPr>
              <a:t>AI đã là một phần của việc học hằng ngày. Câu hỏi quan trọng là dùng như thế nào.</a:t>
            </a:r>
            <a:endParaRPr lang="en-US" sz="1800" dirty="0"/>
          </a:p>
        </p:txBody>
      </p:sp>
      <p:sp>
        <p:nvSpPr>
          <p:cNvPr id="16" name="Nguồn"/>
          <p:cNvSpPr txBox="1"/>
          <p:nvPr/>
        </p:nvSpPr>
        <p:spPr>
          <a:xfrm>
            <a:off x="457200" y="4617720"/>
            <a:ext cx="7589520" cy="320040"/>
          </a:xfrm>
          <a:prstGeom prst="rect">
            <a:avLst/>
          </a:prstGeom>
          <a:noFill/>
          <a:ln/>
        </p:spPr>
        <p:txBody>
          <a:bodyPr wrap="square" lIns="0" tIns="0" rIns="0" bIns="0" rtlCol="0" anchor="ctr"/>
          <a:lstStyle/>
          <a:p>
            <a:pPr marL="0" indent="0">
              <a:buNone/>
            </a:pPr>
            <a:r>
              <a:rPr lang="en-US" sz="1100" i="1" dirty="0">
                <a:solidFill>
                  <a:schemeClr val="accent5"/>
                </a:solidFill>
              </a:rPr>
              <a:t>Nguồn: Digital Education Council, Global AI Student Survey (2024); OECD TALIS 2024, trích trong OECD (2026)</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Sinh viên dùng AI để làm gì?</a:t>
            </a:r>
            <a:endParaRPr lang="en-US" sz="3400" dirty="0"/>
          </a:p>
        </p:txBody>
      </p:sp>
      <p:graphicFrame>
        <p:nvGraphicFramePr>
          <p:cNvPr id="3" name="Chart 0"/>
          <p:cNvGraphicFramePr/>
          <p:nvPr/>
        </p:nvGraphicFramePr>
        <p:xfrm>
          <a:off x="457200" y="1234440"/>
          <a:ext cx="539496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4" name="Thẻ lưu ý"/>
          <p:cNvSpPr/>
          <p:nvPr/>
        </p:nvSpPr>
        <p:spPr>
          <a:xfrm>
            <a:off x="6126480" y="1280160"/>
            <a:ext cx="2560320" cy="3200400"/>
          </a:xfrm>
          <a:prstGeom prst="roundRect">
            <a:avLst>
              <a:gd name="adj" fmla="val 4286"/>
            </a:avLst>
          </a:prstGeom>
          <a:solidFill>
            <a:schemeClr val="bg2"/>
          </a:solidFill>
          <a:ln/>
        </p:spPr>
      </p:sp>
      <p:sp>
        <p:nvSpPr>
          <p:cNvPr id="5" name="Biểu tượng lưu ý vòng tròn"/>
          <p:cNvSpPr/>
          <p:nvPr/>
        </p:nvSpPr>
        <p:spPr>
          <a:xfrm>
            <a:off x="6355080" y="1508760"/>
            <a:ext cx="594360" cy="594360"/>
          </a:xfrm>
          <a:prstGeom prst="ellipse">
            <a:avLst/>
          </a:prstGeom>
          <a:solidFill>
            <a:schemeClr val="accent1"/>
          </a:solidFill>
          <a:ln/>
        </p:spPr>
      </p:sp>
      <p:pic>
        <p:nvPicPr>
          <p:cNvPr id="6" name="Biểu tượng lưu ý" descr="Biểu tượng lưu ý"/>
          <p:cNvPicPr>
            <a:picLocks noChangeAspect="1"/>
          </p:cNvPicPr>
          <p:nvPr/>
        </p:nvPicPr>
        <p:blipFill>
          <a:blip r:embed="rId4"/>
          <a:stretch>
            <a:fillRect/>
          </a:stretch>
        </p:blipFill>
        <p:spPr>
          <a:xfrm>
            <a:off x="6503670" y="1657350"/>
            <a:ext cx="297180" cy="297180"/>
          </a:xfrm>
          <a:prstGeom prst="rect">
            <a:avLst/>
          </a:prstGeom>
        </p:spPr>
      </p:pic>
      <p:sp>
        <p:nvSpPr>
          <p:cNvPr id="7" name="Số liệu lưu ý"/>
          <p:cNvSpPr txBox="1"/>
          <p:nvPr/>
        </p:nvSpPr>
        <p:spPr>
          <a:xfrm>
            <a:off x="6355080" y="2286000"/>
            <a:ext cx="2103120" cy="548640"/>
          </a:xfrm>
          <a:prstGeom prst="rect">
            <a:avLst/>
          </a:prstGeom>
          <a:noFill/>
          <a:ln/>
        </p:spPr>
        <p:txBody>
          <a:bodyPr wrap="square" lIns="0" tIns="0" rIns="0" bIns="0" rtlCol="0" anchor="ctr"/>
          <a:lstStyle/>
          <a:p>
            <a:pPr marL="0" indent="0">
              <a:buNone/>
            </a:pPr>
            <a:r>
              <a:rPr lang="en-US" sz="2800" b="1" dirty="0">
                <a:solidFill>
                  <a:schemeClr val="accent2"/>
                </a:solidFill>
                <a:latin typeface="Cambria" pitchFamily="34" charset="0"/>
                <a:ea typeface="Cambria" pitchFamily="34" charset="-122"/>
                <a:cs typeface="Cambria" pitchFamily="34" charset="-120"/>
              </a:rPr>
              <a:t>Hơn 50%</a:t>
            </a:r>
            <a:endParaRPr lang="en-US" sz="2800" dirty="0"/>
          </a:p>
        </p:txBody>
      </p:sp>
      <p:sp>
        <p:nvSpPr>
          <p:cNvPr id="8" name="Mô tả lưu ý"/>
          <p:cNvSpPr txBox="1"/>
          <p:nvPr/>
        </p:nvSpPr>
        <p:spPr>
          <a:xfrm>
            <a:off x="6355080" y="2880360"/>
            <a:ext cx="2148840" cy="1463040"/>
          </a:xfrm>
          <a:prstGeom prst="rect">
            <a:avLst/>
          </a:prstGeom>
          <a:noFill/>
          <a:ln/>
        </p:spPr>
        <p:txBody>
          <a:bodyPr wrap="square" lIns="0" tIns="0" rIns="0" bIns="0" rtlCol="0" anchor="t"/>
          <a:lstStyle/>
          <a:p>
            <a:pPr marL="0" indent="0">
              <a:buNone/>
            </a:pPr>
            <a:r>
              <a:rPr lang="en-US" sz="1400" dirty="0">
                <a:solidFill>
                  <a:schemeClr val="tx1"/>
                </a:solidFill>
              </a:rPr>
              <a:t>sinh viên lo rằng phụ thuộc quá mức vào AI sẽ làm giảm kết quả học tập của họ.</a:t>
            </a:r>
            <a:endParaRPr lang="en-US" sz="1400" dirty="0"/>
          </a:p>
        </p:txBody>
      </p:sp>
      <p:sp>
        <p:nvSpPr>
          <p:cNvPr id="9" name="Nguồn"/>
          <p:cNvSpPr txBox="1"/>
          <p:nvPr/>
        </p:nvSpPr>
        <p:spPr>
          <a:xfrm>
            <a:off x="457200" y="4617720"/>
            <a:ext cx="7589520" cy="320040"/>
          </a:xfrm>
          <a:prstGeom prst="rect">
            <a:avLst/>
          </a:prstGeom>
          <a:noFill/>
          <a:ln/>
        </p:spPr>
        <p:txBody>
          <a:bodyPr wrap="square" lIns="0" tIns="0" rIns="0" bIns="0" rtlCol="0" anchor="ctr"/>
          <a:lstStyle/>
          <a:p>
            <a:pPr marL="0" indent="0">
              <a:buNone/>
            </a:pPr>
            <a:r>
              <a:rPr lang="en-US" sz="1100" i="1" dirty="0">
                <a:solidFill>
                  <a:schemeClr val="accent5"/>
                </a:solidFill>
              </a:rPr>
              <a:t>Nguồn: Digital Education Council, Global AI Student Survey (2024)</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Lợi ích khi có định hướng</a:t>
            </a:r>
            <a:endParaRPr lang="en-US" sz="3400" dirty="0"/>
          </a:p>
        </p:txBody>
      </p:sp>
      <p:sp>
        <p:nvSpPr>
          <p:cNvPr id="3" name="Thẻ Gia sư"/>
          <p:cNvSpPr/>
          <p:nvPr/>
        </p:nvSpPr>
        <p:spPr>
          <a:xfrm>
            <a:off x="457200" y="1234440"/>
            <a:ext cx="8229600" cy="987552"/>
          </a:xfrm>
          <a:prstGeom prst="roundRect">
            <a:avLst>
              <a:gd name="adj" fmla="val 11111"/>
            </a:avLst>
          </a:prstGeom>
          <a:solidFill>
            <a:schemeClr val="bg2"/>
          </a:solidFill>
          <a:ln/>
        </p:spPr>
      </p:sp>
      <p:sp>
        <p:nvSpPr>
          <p:cNvPr id="4" name="Biểu tượng Gia sư vòng tròn"/>
          <p:cNvSpPr/>
          <p:nvPr/>
        </p:nvSpPr>
        <p:spPr>
          <a:xfrm>
            <a:off x="685800" y="1435608"/>
            <a:ext cx="585216" cy="585216"/>
          </a:xfrm>
          <a:prstGeom prst="ellipse">
            <a:avLst/>
          </a:prstGeom>
          <a:solidFill>
            <a:schemeClr val="accent2"/>
          </a:solidFill>
          <a:ln/>
        </p:spPr>
      </p:sp>
      <p:pic>
        <p:nvPicPr>
          <p:cNvPr id="5" name="Biểu tượng Gia sư" descr="Biểu tượng Gia sư"/>
          <p:cNvPicPr>
            <a:picLocks noChangeAspect="1"/>
          </p:cNvPicPr>
          <p:nvPr/>
        </p:nvPicPr>
        <p:blipFill>
          <a:blip r:embed="rId3"/>
          <a:stretch>
            <a:fillRect/>
          </a:stretch>
        </p:blipFill>
        <p:spPr>
          <a:xfrm>
            <a:off x="832104" y="1581912"/>
            <a:ext cx="292608" cy="292608"/>
          </a:xfrm>
          <a:prstGeom prst="rect">
            <a:avLst/>
          </a:prstGeom>
        </p:spPr>
      </p:pic>
      <p:sp>
        <p:nvSpPr>
          <p:cNvPr id="6" name="Tiêu đề Gia sư"/>
          <p:cNvSpPr txBox="1"/>
          <p:nvPr/>
        </p:nvSpPr>
        <p:spPr>
          <a:xfrm>
            <a:off x="1508760" y="1307592"/>
            <a:ext cx="6949440" cy="292608"/>
          </a:xfrm>
          <a:prstGeom prst="rect">
            <a:avLst/>
          </a:prstGeom>
          <a:noFill/>
          <a:ln/>
        </p:spPr>
        <p:txBody>
          <a:bodyPr wrap="square" lIns="0" tIns="0" rIns="0" bIns="0" rtlCol="0" anchor="ctr"/>
          <a:lstStyle/>
          <a:p>
            <a:pPr marL="0" indent="0">
              <a:buNone/>
            </a:pPr>
            <a:r>
              <a:rPr lang="en-US" sz="1800" b="1" dirty="0">
                <a:solidFill>
                  <a:schemeClr val="tx2"/>
                </a:solidFill>
              </a:rPr>
              <a:t>Gia sư</a:t>
            </a:r>
            <a:endParaRPr lang="en-US" sz="1800" dirty="0"/>
          </a:p>
        </p:txBody>
      </p:sp>
      <p:sp>
        <p:nvSpPr>
          <p:cNvPr id="7" name="Mô tả Gia sư"/>
          <p:cNvSpPr txBox="1"/>
          <p:nvPr/>
        </p:nvSpPr>
        <p:spPr>
          <a:xfrm>
            <a:off x="1508760" y="1618488"/>
            <a:ext cx="6949440" cy="548640"/>
          </a:xfrm>
          <a:prstGeom prst="rect">
            <a:avLst/>
          </a:prstGeom>
          <a:noFill/>
          <a:ln/>
        </p:spPr>
        <p:txBody>
          <a:bodyPr wrap="square" lIns="0" tIns="0" rIns="0" bIns="0" rtlCol="0" anchor="t"/>
          <a:lstStyle/>
          <a:p>
            <a:pPr marL="0" indent="0">
              <a:buNone/>
            </a:pPr>
            <a:r>
              <a:rPr lang="en-US" sz="1400" dirty="0">
                <a:solidFill>
                  <a:schemeClr val="tx1"/>
                </a:solidFill>
              </a:rPr>
              <a:t>Hệ thống dạy kèm dùng AI tạo sinh có thể đối thoại, đặt câu hỏi, gợi ý và đổi chiến lược, thay vì chạy theo kịch bản cố định.</a:t>
            </a:r>
            <a:endParaRPr lang="en-US" sz="1400" dirty="0"/>
          </a:p>
        </p:txBody>
      </p:sp>
      <p:sp>
        <p:nvSpPr>
          <p:cNvPr id="8" name="Thẻ Cộng sự học tập"/>
          <p:cNvSpPr/>
          <p:nvPr/>
        </p:nvSpPr>
        <p:spPr>
          <a:xfrm>
            <a:off x="457200" y="2331720"/>
            <a:ext cx="8229600" cy="987552"/>
          </a:xfrm>
          <a:prstGeom prst="roundRect">
            <a:avLst>
              <a:gd name="adj" fmla="val 11111"/>
            </a:avLst>
          </a:prstGeom>
          <a:solidFill>
            <a:schemeClr val="bg2"/>
          </a:solidFill>
          <a:ln/>
        </p:spPr>
      </p:sp>
      <p:sp>
        <p:nvSpPr>
          <p:cNvPr id="9" name="Biểu tượng Cộng sự học tập vòng tròn"/>
          <p:cNvSpPr/>
          <p:nvPr/>
        </p:nvSpPr>
        <p:spPr>
          <a:xfrm>
            <a:off x="685800" y="2532888"/>
            <a:ext cx="585216" cy="585216"/>
          </a:xfrm>
          <a:prstGeom prst="ellipse">
            <a:avLst/>
          </a:prstGeom>
          <a:solidFill>
            <a:schemeClr val="accent2"/>
          </a:solidFill>
          <a:ln/>
        </p:spPr>
      </p:sp>
      <p:pic>
        <p:nvPicPr>
          <p:cNvPr id="10" name="Biểu tượng Cộng sự học tập" descr="Biểu tượng Cộng sự học tập"/>
          <p:cNvPicPr>
            <a:picLocks noChangeAspect="1"/>
          </p:cNvPicPr>
          <p:nvPr/>
        </p:nvPicPr>
        <p:blipFill>
          <a:blip r:embed="rId4"/>
          <a:stretch>
            <a:fillRect/>
          </a:stretch>
        </p:blipFill>
        <p:spPr>
          <a:xfrm>
            <a:off x="832104" y="2679192"/>
            <a:ext cx="292608" cy="292608"/>
          </a:xfrm>
          <a:prstGeom prst="rect">
            <a:avLst/>
          </a:prstGeom>
        </p:spPr>
      </p:pic>
      <p:sp>
        <p:nvSpPr>
          <p:cNvPr id="11" name="Tiêu đề Cộng sự học tập"/>
          <p:cNvSpPr txBox="1"/>
          <p:nvPr/>
        </p:nvSpPr>
        <p:spPr>
          <a:xfrm>
            <a:off x="1508760" y="2404872"/>
            <a:ext cx="6949440" cy="292608"/>
          </a:xfrm>
          <a:prstGeom prst="rect">
            <a:avLst/>
          </a:prstGeom>
          <a:noFill/>
          <a:ln/>
        </p:spPr>
        <p:txBody>
          <a:bodyPr wrap="square" lIns="0" tIns="0" rIns="0" bIns="0" rtlCol="0" anchor="ctr"/>
          <a:lstStyle/>
          <a:p>
            <a:pPr marL="0" indent="0">
              <a:buNone/>
            </a:pPr>
            <a:r>
              <a:rPr lang="en-US" sz="1800" b="1" dirty="0">
                <a:solidFill>
                  <a:schemeClr val="tx2"/>
                </a:solidFill>
              </a:rPr>
              <a:t>Cộng sự học tập</a:t>
            </a:r>
            <a:endParaRPr lang="en-US" sz="1800" dirty="0"/>
          </a:p>
        </p:txBody>
      </p:sp>
      <p:sp>
        <p:nvSpPr>
          <p:cNvPr id="12" name="Mô tả Cộng sự học tập"/>
          <p:cNvSpPr txBox="1"/>
          <p:nvPr/>
        </p:nvSpPr>
        <p:spPr>
          <a:xfrm>
            <a:off x="1508760" y="2715768"/>
            <a:ext cx="6949440" cy="548640"/>
          </a:xfrm>
          <a:prstGeom prst="rect">
            <a:avLst/>
          </a:prstGeom>
          <a:noFill/>
          <a:ln/>
        </p:spPr>
        <p:txBody>
          <a:bodyPr wrap="square" lIns="0" tIns="0" rIns="0" bIns="0" rtlCol="0" anchor="t"/>
          <a:lstStyle/>
          <a:p>
            <a:pPr marL="0" indent="0">
              <a:buNone/>
            </a:pPr>
            <a:r>
              <a:rPr lang="en-US" sz="1400" dirty="0">
                <a:solidFill>
                  <a:schemeClr val="tx1"/>
                </a:solidFill>
              </a:rPr>
              <a:t>Khi dùng có chủ đích sư phạm, AI có thể góp phần phát triển tư duy phản biện, sáng tạo và hợp tác.</a:t>
            </a:r>
            <a:endParaRPr lang="en-US" sz="1400" dirty="0"/>
          </a:p>
        </p:txBody>
      </p:sp>
      <p:sp>
        <p:nvSpPr>
          <p:cNvPr id="13" name="Thẻ Trợ lý cho giáo viên"/>
          <p:cNvSpPr/>
          <p:nvPr/>
        </p:nvSpPr>
        <p:spPr>
          <a:xfrm>
            <a:off x="457200" y="3429000"/>
            <a:ext cx="8229600" cy="987552"/>
          </a:xfrm>
          <a:prstGeom prst="roundRect">
            <a:avLst>
              <a:gd name="adj" fmla="val 11111"/>
            </a:avLst>
          </a:prstGeom>
          <a:solidFill>
            <a:schemeClr val="bg2"/>
          </a:solidFill>
          <a:ln/>
        </p:spPr>
      </p:sp>
      <p:sp>
        <p:nvSpPr>
          <p:cNvPr id="14" name="Biểu tượng Trợ lý cho giáo viên vòng tròn"/>
          <p:cNvSpPr/>
          <p:nvPr/>
        </p:nvSpPr>
        <p:spPr>
          <a:xfrm>
            <a:off x="685800" y="3630168"/>
            <a:ext cx="585216" cy="585216"/>
          </a:xfrm>
          <a:prstGeom prst="ellipse">
            <a:avLst/>
          </a:prstGeom>
          <a:solidFill>
            <a:schemeClr val="accent2"/>
          </a:solidFill>
          <a:ln/>
        </p:spPr>
      </p:sp>
      <p:pic>
        <p:nvPicPr>
          <p:cNvPr id="15" name="Biểu tượng Trợ lý cho giáo viên" descr="Biểu tượng Trợ lý cho giáo viên"/>
          <p:cNvPicPr>
            <a:picLocks noChangeAspect="1"/>
          </p:cNvPicPr>
          <p:nvPr/>
        </p:nvPicPr>
        <p:blipFill>
          <a:blip r:embed="rId5"/>
          <a:stretch>
            <a:fillRect/>
          </a:stretch>
        </p:blipFill>
        <p:spPr>
          <a:xfrm>
            <a:off x="832104" y="3776472"/>
            <a:ext cx="292608" cy="292608"/>
          </a:xfrm>
          <a:prstGeom prst="rect">
            <a:avLst/>
          </a:prstGeom>
        </p:spPr>
      </p:pic>
      <p:sp>
        <p:nvSpPr>
          <p:cNvPr id="16" name="Tiêu đề Trợ lý cho giáo viên"/>
          <p:cNvSpPr txBox="1"/>
          <p:nvPr/>
        </p:nvSpPr>
        <p:spPr>
          <a:xfrm>
            <a:off x="1508760" y="3502152"/>
            <a:ext cx="6949440" cy="292608"/>
          </a:xfrm>
          <a:prstGeom prst="rect">
            <a:avLst/>
          </a:prstGeom>
          <a:noFill/>
          <a:ln/>
        </p:spPr>
        <p:txBody>
          <a:bodyPr wrap="square" lIns="0" tIns="0" rIns="0" bIns="0" rtlCol="0" anchor="ctr"/>
          <a:lstStyle/>
          <a:p>
            <a:pPr marL="0" indent="0">
              <a:buNone/>
            </a:pPr>
            <a:r>
              <a:rPr lang="en-US" sz="1800" b="1" dirty="0">
                <a:solidFill>
                  <a:schemeClr val="tx2"/>
                </a:solidFill>
              </a:rPr>
              <a:t>Trợ lý cho giáo viên</a:t>
            </a:r>
            <a:endParaRPr lang="en-US" sz="1800" dirty="0"/>
          </a:p>
        </p:txBody>
      </p:sp>
      <p:sp>
        <p:nvSpPr>
          <p:cNvPr id="17" name="Mô tả Trợ lý cho giáo viên"/>
          <p:cNvSpPr txBox="1"/>
          <p:nvPr/>
        </p:nvSpPr>
        <p:spPr>
          <a:xfrm>
            <a:off x="1508760" y="3813048"/>
            <a:ext cx="6949440" cy="548640"/>
          </a:xfrm>
          <a:prstGeom prst="rect">
            <a:avLst/>
          </a:prstGeom>
          <a:noFill/>
          <a:ln/>
        </p:spPr>
        <p:txBody>
          <a:bodyPr wrap="square" lIns="0" tIns="0" rIns="0" bIns="0" rtlCol="0" anchor="t"/>
          <a:lstStyle/>
          <a:p>
            <a:pPr marL="0" indent="0">
              <a:buNone/>
            </a:pPr>
            <a:r>
              <a:rPr lang="en-US" sz="1400" dirty="0">
                <a:solidFill>
                  <a:schemeClr val="tx1"/>
                </a:solidFill>
              </a:rPr>
              <a:t>57% giáo viên trung học cơ sở đồng ý rằng AI giúp họ soạn hoặc cải thiện giáo án.</a:t>
            </a:r>
            <a:endParaRPr lang="en-US" sz="1400" dirty="0"/>
          </a:p>
        </p:txBody>
      </p:sp>
      <p:sp>
        <p:nvSpPr>
          <p:cNvPr id="18" name="Nguồn"/>
          <p:cNvSpPr txBox="1"/>
          <p:nvPr/>
        </p:nvSpPr>
        <p:spPr>
          <a:xfrm>
            <a:off x="457200" y="4617720"/>
            <a:ext cx="7589520" cy="320040"/>
          </a:xfrm>
          <a:prstGeom prst="rect">
            <a:avLst/>
          </a:prstGeom>
          <a:noFill/>
          <a:ln/>
        </p:spPr>
        <p:txBody>
          <a:bodyPr wrap="square" lIns="0" tIns="0" rIns="0" bIns="0" rtlCol="0" anchor="ctr"/>
          <a:lstStyle/>
          <a:p>
            <a:pPr marL="0" indent="0">
              <a:buNone/>
            </a:pPr>
            <a:r>
              <a:rPr lang="en-US" sz="1100" i="1" dirty="0">
                <a:solidFill>
                  <a:schemeClr val="accent5"/>
                </a:solidFill>
              </a:rPr>
              <a:t>Nguồn: OECD Digital Education Outlook 2026; OECD TALIS 2024</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Rủi ro khi thiếu hướng dẫn</a:t>
            </a:r>
            <a:endParaRPr lang="en-US" sz="3400" dirty="0"/>
          </a:p>
        </p:txBody>
      </p:sp>
      <p:sp>
        <p:nvSpPr>
          <p:cNvPr id="3" name="Thẻ nghiên cứu PNAS"/>
          <p:cNvSpPr/>
          <p:nvPr/>
        </p:nvSpPr>
        <p:spPr>
          <a:xfrm>
            <a:off x="457200" y="1280160"/>
            <a:ext cx="3383280" cy="3200400"/>
          </a:xfrm>
          <a:prstGeom prst="roundRect">
            <a:avLst>
              <a:gd name="adj" fmla="val 3429"/>
            </a:avLst>
          </a:prstGeom>
          <a:solidFill>
            <a:schemeClr val="tx2"/>
          </a:solidFill>
          <a:ln/>
        </p:spPr>
      </p:sp>
      <p:sp>
        <p:nvSpPr>
          <p:cNvPr id="4" name="Số liệu PNAS"/>
          <p:cNvSpPr txBox="1"/>
          <p:nvPr/>
        </p:nvSpPr>
        <p:spPr>
          <a:xfrm>
            <a:off x="731520" y="1463040"/>
            <a:ext cx="2834640" cy="914400"/>
          </a:xfrm>
          <a:prstGeom prst="rect">
            <a:avLst/>
          </a:prstGeom>
          <a:noFill/>
          <a:ln/>
        </p:spPr>
        <p:txBody>
          <a:bodyPr wrap="square" lIns="0" tIns="0" rIns="0" bIns="0" rtlCol="0" anchor="ctr"/>
          <a:lstStyle/>
          <a:p>
            <a:pPr marL="0" indent="0">
              <a:buNone/>
            </a:pPr>
            <a:r>
              <a:rPr lang="en-US" sz="5400" b="1" dirty="0">
                <a:solidFill>
                  <a:schemeClr val="accent1"/>
                </a:solidFill>
                <a:latin typeface="Cambria" pitchFamily="34" charset="0"/>
                <a:ea typeface="Cambria" pitchFamily="34" charset="-122"/>
                <a:cs typeface="Cambria" pitchFamily="34" charset="-120"/>
              </a:rPr>
              <a:t>−17%</a:t>
            </a:r>
            <a:endParaRPr lang="en-US" sz="5400" dirty="0"/>
          </a:p>
        </p:txBody>
      </p:sp>
      <p:sp>
        <p:nvSpPr>
          <p:cNvPr id="5" name="Chú giải PNAS"/>
          <p:cNvSpPr txBox="1"/>
          <p:nvPr/>
        </p:nvSpPr>
        <p:spPr>
          <a:xfrm>
            <a:off x="731520" y="2423160"/>
            <a:ext cx="2834640" cy="1188720"/>
          </a:xfrm>
          <a:prstGeom prst="rect">
            <a:avLst/>
          </a:prstGeom>
          <a:noFill/>
          <a:ln/>
        </p:spPr>
        <p:txBody>
          <a:bodyPr wrap="square" lIns="0" tIns="0" rIns="0" bIns="0" rtlCol="0" anchor="t"/>
          <a:lstStyle/>
          <a:p>
            <a:pPr marL="0" indent="0">
              <a:buNone/>
            </a:pPr>
            <a:r>
              <a:rPr lang="en-US" sz="1400" dirty="0">
                <a:solidFill>
                  <a:schemeClr val="bg1"/>
                </a:solidFill>
              </a:rPr>
              <a:t>điểm kiểm tra khi bị rút quyền dùng GPT-4 (không có rào chắn), so với nhóm chưa từng dùng AI</a:t>
            </a:r>
            <a:endParaRPr lang="en-US" sz="1400" dirty="0"/>
          </a:p>
        </p:txBody>
      </p:sp>
      <p:sp>
        <p:nvSpPr>
          <p:cNvPr id="6" name="Quy mô PNAS"/>
          <p:cNvSpPr txBox="1"/>
          <p:nvPr/>
        </p:nvSpPr>
        <p:spPr>
          <a:xfrm>
            <a:off x="731520" y="3657600"/>
            <a:ext cx="2834640" cy="685800"/>
          </a:xfrm>
          <a:prstGeom prst="rect">
            <a:avLst/>
          </a:prstGeom>
          <a:noFill/>
          <a:ln/>
        </p:spPr>
        <p:txBody>
          <a:bodyPr wrap="square" lIns="0" tIns="0" rIns="0" bIns="0" rtlCol="0" anchor="t"/>
          <a:lstStyle/>
          <a:p>
            <a:pPr marL="0" indent="0">
              <a:buNone/>
            </a:pPr>
            <a:r>
              <a:rPr lang="en-US" sz="1200" i="1" dirty="0">
                <a:solidFill>
                  <a:schemeClr val="bg2"/>
                </a:solidFill>
              </a:rPr>
              <a:t>Thử nghiệm thực địa với gần 1.000 học sinh THPT môn Toán</a:t>
            </a:r>
            <a:endParaRPr lang="en-US" sz="1200" dirty="0"/>
          </a:p>
        </p:txBody>
      </p:sp>
      <p:sp>
        <p:nvSpPr>
          <p:cNvPr id="7" name="Thẻ Có rào chắn thì khác"/>
          <p:cNvSpPr/>
          <p:nvPr/>
        </p:nvSpPr>
        <p:spPr>
          <a:xfrm>
            <a:off x="4114800" y="1280160"/>
            <a:ext cx="4572000" cy="1005840"/>
          </a:xfrm>
          <a:prstGeom prst="roundRect">
            <a:avLst>
              <a:gd name="adj" fmla="val 10909"/>
            </a:avLst>
          </a:prstGeom>
          <a:solidFill>
            <a:schemeClr val="bg2"/>
          </a:solidFill>
          <a:ln/>
        </p:spPr>
      </p:sp>
      <p:sp>
        <p:nvSpPr>
          <p:cNvPr id="8" name="Biểu tượng Có rào chắn thì khác vòng tròn"/>
          <p:cNvSpPr/>
          <p:nvPr/>
        </p:nvSpPr>
        <p:spPr>
          <a:xfrm>
            <a:off x="4297680" y="1481328"/>
            <a:ext cx="585216" cy="585216"/>
          </a:xfrm>
          <a:prstGeom prst="ellipse">
            <a:avLst/>
          </a:prstGeom>
          <a:solidFill>
            <a:schemeClr val="accent2"/>
          </a:solidFill>
          <a:ln/>
        </p:spPr>
      </p:sp>
      <p:pic>
        <p:nvPicPr>
          <p:cNvPr id="9" name="Biểu tượng Có rào chắn thì khác" descr="Biểu tượng Có rào chắn thì khác"/>
          <p:cNvPicPr>
            <a:picLocks noChangeAspect="1"/>
          </p:cNvPicPr>
          <p:nvPr/>
        </p:nvPicPr>
        <p:blipFill>
          <a:blip r:embed="rId3"/>
          <a:stretch>
            <a:fillRect/>
          </a:stretch>
        </p:blipFill>
        <p:spPr>
          <a:xfrm>
            <a:off x="4443984" y="1627632"/>
            <a:ext cx="292608" cy="292608"/>
          </a:xfrm>
          <a:prstGeom prst="rect">
            <a:avLst/>
          </a:prstGeom>
        </p:spPr>
      </p:pic>
      <p:sp>
        <p:nvSpPr>
          <p:cNvPr id="10" name="Tiêu đề Có rào chắn thì khác"/>
          <p:cNvSpPr txBox="1"/>
          <p:nvPr/>
        </p:nvSpPr>
        <p:spPr>
          <a:xfrm>
            <a:off x="5029200" y="1344168"/>
            <a:ext cx="3520440" cy="274320"/>
          </a:xfrm>
          <a:prstGeom prst="rect">
            <a:avLst/>
          </a:prstGeom>
          <a:noFill/>
          <a:ln/>
        </p:spPr>
        <p:txBody>
          <a:bodyPr wrap="square" lIns="0" tIns="0" rIns="0" bIns="0" rtlCol="0" anchor="ctr"/>
          <a:lstStyle/>
          <a:p>
            <a:pPr marL="0" indent="0">
              <a:buNone/>
            </a:pPr>
            <a:r>
              <a:rPr lang="en-US" sz="1600" b="1" dirty="0">
                <a:solidFill>
                  <a:schemeClr val="tx2"/>
                </a:solidFill>
              </a:rPr>
              <a:t>Có rào chắn thì khác</a:t>
            </a:r>
            <a:endParaRPr lang="en-US" sz="1600" dirty="0"/>
          </a:p>
        </p:txBody>
      </p:sp>
      <p:sp>
        <p:nvSpPr>
          <p:cNvPr id="11" name="Mô tả Có rào chắn thì khác"/>
          <p:cNvSpPr txBox="1"/>
          <p:nvPr/>
        </p:nvSpPr>
        <p:spPr>
          <a:xfrm>
            <a:off x="5029200" y="1627632"/>
            <a:ext cx="3520440" cy="640080"/>
          </a:xfrm>
          <a:prstGeom prst="rect">
            <a:avLst/>
          </a:prstGeom>
          <a:noFill/>
          <a:ln/>
        </p:spPr>
        <p:txBody>
          <a:bodyPr wrap="square" lIns="0" tIns="0" rIns="0" bIns="0" rtlCol="0" anchor="t"/>
          <a:lstStyle/>
          <a:p>
            <a:pPr marL="0" indent="0">
              <a:buNone/>
            </a:pPr>
            <a:r>
              <a:rPr lang="en-US" sz="1400" dirty="0">
                <a:solidFill>
                  <a:schemeClr val="tx1"/>
                </a:solidFill>
              </a:rPr>
              <a:t>Gia sư AI có thiết kế sư phạm (GPT Tutor) giảm phần lớn tác động tiêu cực.</a:t>
            </a:r>
            <a:endParaRPr lang="en-US" sz="1400" dirty="0"/>
          </a:p>
        </p:txBody>
      </p:sp>
      <p:sp>
        <p:nvSpPr>
          <p:cNvPr id="12" name="Thẻ Hiệu suất khác với học tập"/>
          <p:cNvSpPr/>
          <p:nvPr/>
        </p:nvSpPr>
        <p:spPr>
          <a:xfrm>
            <a:off x="4114800" y="2377440"/>
            <a:ext cx="4572000" cy="1005840"/>
          </a:xfrm>
          <a:prstGeom prst="roundRect">
            <a:avLst>
              <a:gd name="adj" fmla="val 10909"/>
            </a:avLst>
          </a:prstGeom>
          <a:solidFill>
            <a:schemeClr val="bg2"/>
          </a:solidFill>
          <a:ln/>
        </p:spPr>
      </p:sp>
      <p:sp>
        <p:nvSpPr>
          <p:cNvPr id="13" name="Biểu tượng Hiệu suất khác với học tập vòng tròn"/>
          <p:cNvSpPr/>
          <p:nvPr/>
        </p:nvSpPr>
        <p:spPr>
          <a:xfrm>
            <a:off x="4297680" y="2578608"/>
            <a:ext cx="585216" cy="585216"/>
          </a:xfrm>
          <a:prstGeom prst="ellipse">
            <a:avLst/>
          </a:prstGeom>
          <a:solidFill>
            <a:schemeClr val="accent2"/>
          </a:solidFill>
          <a:ln/>
        </p:spPr>
      </p:sp>
      <p:pic>
        <p:nvPicPr>
          <p:cNvPr id="14" name="Biểu tượng Hiệu suất khác với học tập" descr="Biểu tượng Hiệu suất khác với học tập"/>
          <p:cNvPicPr>
            <a:picLocks noChangeAspect="1"/>
          </p:cNvPicPr>
          <p:nvPr/>
        </p:nvPicPr>
        <p:blipFill>
          <a:blip r:embed="rId4"/>
          <a:stretch>
            <a:fillRect/>
          </a:stretch>
        </p:blipFill>
        <p:spPr>
          <a:xfrm>
            <a:off x="4443984" y="2724912"/>
            <a:ext cx="292608" cy="292608"/>
          </a:xfrm>
          <a:prstGeom prst="rect">
            <a:avLst/>
          </a:prstGeom>
        </p:spPr>
      </p:pic>
      <p:sp>
        <p:nvSpPr>
          <p:cNvPr id="15" name="Tiêu đề Hiệu suất khác với học tập"/>
          <p:cNvSpPr txBox="1"/>
          <p:nvPr/>
        </p:nvSpPr>
        <p:spPr>
          <a:xfrm>
            <a:off x="5029200" y="2441448"/>
            <a:ext cx="3520440" cy="274320"/>
          </a:xfrm>
          <a:prstGeom prst="rect">
            <a:avLst/>
          </a:prstGeom>
          <a:noFill/>
          <a:ln/>
        </p:spPr>
        <p:txBody>
          <a:bodyPr wrap="square" lIns="0" tIns="0" rIns="0" bIns="0" rtlCol="0" anchor="ctr"/>
          <a:lstStyle/>
          <a:p>
            <a:pPr marL="0" indent="0">
              <a:buNone/>
            </a:pPr>
            <a:r>
              <a:rPr lang="en-US" sz="1600" b="1" dirty="0">
                <a:solidFill>
                  <a:schemeClr val="tx2"/>
                </a:solidFill>
              </a:rPr>
              <a:t>Hiệu suất khác với học tập</a:t>
            </a:r>
            <a:endParaRPr lang="en-US" sz="1600" dirty="0"/>
          </a:p>
        </p:txBody>
      </p:sp>
      <p:sp>
        <p:nvSpPr>
          <p:cNvPr id="16" name="Mô tả Hiệu suất khác với học tập"/>
          <p:cNvSpPr txBox="1"/>
          <p:nvPr/>
        </p:nvSpPr>
        <p:spPr>
          <a:xfrm>
            <a:off x="5029200" y="2724912"/>
            <a:ext cx="3520440" cy="640080"/>
          </a:xfrm>
          <a:prstGeom prst="rect">
            <a:avLst/>
          </a:prstGeom>
          <a:noFill/>
          <a:ln/>
        </p:spPr>
        <p:txBody>
          <a:bodyPr wrap="square" lIns="0" tIns="0" rIns="0" bIns="0" rtlCol="0" anchor="t"/>
          <a:lstStyle/>
          <a:p>
            <a:pPr marL="0" indent="0">
              <a:buNone/>
            </a:pPr>
            <a:r>
              <a:rPr lang="en-US" sz="1400" dirty="0">
                <a:solidFill>
                  <a:schemeClr val="tx1"/>
                </a:solidFill>
              </a:rPr>
              <a:t>Thiếu hướng dẫn sư phạm, AI chỉ nâng kết quả làm bài chứ không tạo tiến bộ học tập (OECD).</a:t>
            </a:r>
            <a:endParaRPr lang="en-US" sz="1400" dirty="0"/>
          </a:p>
        </p:txBody>
      </p:sp>
      <p:sp>
        <p:nvSpPr>
          <p:cNvPr id="17" name="Thẻ Quyền riêng tư và công bằng"/>
          <p:cNvSpPr/>
          <p:nvPr/>
        </p:nvSpPr>
        <p:spPr>
          <a:xfrm>
            <a:off x="4114800" y="3474720"/>
            <a:ext cx="4572000" cy="1005840"/>
          </a:xfrm>
          <a:prstGeom prst="roundRect">
            <a:avLst>
              <a:gd name="adj" fmla="val 10909"/>
            </a:avLst>
          </a:prstGeom>
          <a:solidFill>
            <a:schemeClr val="bg2"/>
          </a:solidFill>
          <a:ln/>
        </p:spPr>
      </p:sp>
      <p:sp>
        <p:nvSpPr>
          <p:cNvPr id="18" name="Biểu tượng Quyền riêng tư và công bằng vòng tròn"/>
          <p:cNvSpPr/>
          <p:nvPr/>
        </p:nvSpPr>
        <p:spPr>
          <a:xfrm>
            <a:off x="4297680" y="3675888"/>
            <a:ext cx="585216" cy="585216"/>
          </a:xfrm>
          <a:prstGeom prst="ellipse">
            <a:avLst/>
          </a:prstGeom>
          <a:solidFill>
            <a:schemeClr val="accent2"/>
          </a:solidFill>
          <a:ln/>
        </p:spPr>
      </p:sp>
      <p:pic>
        <p:nvPicPr>
          <p:cNvPr id="19" name="Biểu tượng Quyền riêng tư và công bằng" descr="Biểu tượng Quyền riêng tư và công bằng"/>
          <p:cNvPicPr>
            <a:picLocks noChangeAspect="1"/>
          </p:cNvPicPr>
          <p:nvPr/>
        </p:nvPicPr>
        <p:blipFill>
          <a:blip r:embed="rId5"/>
          <a:stretch>
            <a:fillRect/>
          </a:stretch>
        </p:blipFill>
        <p:spPr>
          <a:xfrm>
            <a:off x="4443984" y="3822192"/>
            <a:ext cx="292608" cy="292608"/>
          </a:xfrm>
          <a:prstGeom prst="rect">
            <a:avLst/>
          </a:prstGeom>
        </p:spPr>
      </p:pic>
      <p:sp>
        <p:nvSpPr>
          <p:cNvPr id="20" name="Tiêu đề Quyền riêng tư và công bằng"/>
          <p:cNvSpPr txBox="1"/>
          <p:nvPr/>
        </p:nvSpPr>
        <p:spPr>
          <a:xfrm>
            <a:off x="5029200" y="3538728"/>
            <a:ext cx="3520440" cy="274320"/>
          </a:xfrm>
          <a:prstGeom prst="rect">
            <a:avLst/>
          </a:prstGeom>
          <a:noFill/>
          <a:ln/>
        </p:spPr>
        <p:txBody>
          <a:bodyPr wrap="square" lIns="0" tIns="0" rIns="0" bIns="0" rtlCol="0" anchor="ctr"/>
          <a:lstStyle/>
          <a:p>
            <a:pPr marL="0" indent="0">
              <a:buNone/>
            </a:pPr>
            <a:r>
              <a:rPr lang="en-US" sz="1600" b="1" dirty="0">
                <a:solidFill>
                  <a:schemeClr val="tx2"/>
                </a:solidFill>
              </a:rPr>
              <a:t>Quyền riêng tư và công bằng</a:t>
            </a:r>
            <a:endParaRPr lang="en-US" sz="1600" dirty="0"/>
          </a:p>
        </p:txBody>
      </p:sp>
      <p:sp>
        <p:nvSpPr>
          <p:cNvPr id="21" name="Mô tả Quyền riêng tư và công bằng"/>
          <p:cNvSpPr txBox="1"/>
          <p:nvPr/>
        </p:nvSpPr>
        <p:spPr>
          <a:xfrm>
            <a:off x="5029200" y="3822192"/>
            <a:ext cx="3520440" cy="640080"/>
          </a:xfrm>
          <a:prstGeom prst="rect">
            <a:avLst/>
          </a:prstGeom>
          <a:noFill/>
          <a:ln/>
        </p:spPr>
        <p:txBody>
          <a:bodyPr wrap="square" lIns="0" tIns="0" rIns="0" bIns="0" rtlCol="0" anchor="t"/>
          <a:lstStyle/>
          <a:p>
            <a:pPr marL="0" indent="0">
              <a:buNone/>
            </a:pPr>
            <a:r>
              <a:rPr lang="en-US" sz="1400" dirty="0">
                <a:solidFill>
                  <a:schemeClr val="tx1"/>
                </a:solidFill>
              </a:rPr>
              <a:t>UNESCO cảnh báo dữ liệu người dùng chưa được bảo vệ và các rủi ro về công bằng, hòa nhập.</a:t>
            </a:r>
            <a:endParaRPr lang="en-US" sz="1400" dirty="0"/>
          </a:p>
        </p:txBody>
      </p:sp>
      <p:sp>
        <p:nvSpPr>
          <p:cNvPr id="22" name="Nguồn"/>
          <p:cNvSpPr txBox="1"/>
          <p:nvPr/>
        </p:nvSpPr>
        <p:spPr>
          <a:xfrm>
            <a:off x="457200" y="4617720"/>
            <a:ext cx="7589520" cy="320040"/>
          </a:xfrm>
          <a:prstGeom prst="rect">
            <a:avLst/>
          </a:prstGeom>
          <a:noFill/>
          <a:ln/>
        </p:spPr>
        <p:txBody>
          <a:bodyPr wrap="square" lIns="0" tIns="0" rIns="0" bIns="0" rtlCol="0" anchor="ctr"/>
          <a:lstStyle/>
          <a:p>
            <a:pPr marL="0" indent="0">
              <a:buNone/>
            </a:pPr>
            <a:r>
              <a:rPr lang="en-US" sz="1100" i="1" dirty="0">
                <a:solidFill>
                  <a:schemeClr val="accent5"/>
                </a:solidFill>
              </a:rPr>
              <a:t>Nguồn: Bastani et al., PNAS 122(26) (2025); OECD (2026); UNESCO (2023)</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Dùng AI có trách nhiệm</a:t>
            </a:r>
            <a:endParaRPr lang="en-US" sz="3400" dirty="0"/>
          </a:p>
        </p:txBody>
      </p:sp>
      <p:sp>
        <p:nvSpPr>
          <p:cNvPr id="3" name="Thẻ Gia sư, không phải lối tắt"/>
          <p:cNvSpPr/>
          <p:nvPr/>
        </p:nvSpPr>
        <p:spPr>
          <a:xfrm>
            <a:off x="457200" y="1280160"/>
            <a:ext cx="2788920" cy="1508760"/>
          </a:xfrm>
          <a:prstGeom prst="roundRect">
            <a:avLst>
              <a:gd name="adj" fmla="val 7273"/>
            </a:avLst>
          </a:prstGeom>
          <a:solidFill>
            <a:schemeClr val="bg2"/>
          </a:solidFill>
          <a:ln/>
        </p:spPr>
      </p:sp>
      <p:sp>
        <p:nvSpPr>
          <p:cNvPr id="4" name="Biểu tượng Gia sư, không phải lối tắt vòng tròn"/>
          <p:cNvSpPr/>
          <p:nvPr/>
        </p:nvSpPr>
        <p:spPr>
          <a:xfrm>
            <a:off x="640080" y="1463040"/>
            <a:ext cx="502920" cy="502920"/>
          </a:xfrm>
          <a:prstGeom prst="ellipse">
            <a:avLst/>
          </a:prstGeom>
          <a:solidFill>
            <a:schemeClr val="accent2"/>
          </a:solidFill>
          <a:ln/>
        </p:spPr>
      </p:sp>
      <p:pic>
        <p:nvPicPr>
          <p:cNvPr id="5" name="Biểu tượng Gia sư, không phải lối tắt" descr="Biểu tượng Gia sư, không phải lối tắt"/>
          <p:cNvPicPr>
            <a:picLocks noChangeAspect="1"/>
          </p:cNvPicPr>
          <p:nvPr/>
        </p:nvPicPr>
        <p:blipFill>
          <a:blip r:embed="rId3"/>
          <a:stretch>
            <a:fillRect/>
          </a:stretch>
        </p:blipFill>
        <p:spPr>
          <a:xfrm>
            <a:off x="765810" y="1588770"/>
            <a:ext cx="251460" cy="251460"/>
          </a:xfrm>
          <a:prstGeom prst="rect">
            <a:avLst/>
          </a:prstGeom>
        </p:spPr>
      </p:pic>
      <p:sp>
        <p:nvSpPr>
          <p:cNvPr id="6" name="Tiêu đề Gia sư, không phải lối tắt"/>
          <p:cNvSpPr txBox="1"/>
          <p:nvPr/>
        </p:nvSpPr>
        <p:spPr>
          <a:xfrm>
            <a:off x="1280160" y="1417320"/>
            <a:ext cx="1828800" cy="594360"/>
          </a:xfrm>
          <a:prstGeom prst="rect">
            <a:avLst/>
          </a:prstGeom>
          <a:noFill/>
          <a:ln/>
        </p:spPr>
        <p:txBody>
          <a:bodyPr wrap="square" lIns="0" tIns="0" rIns="0" bIns="0" rtlCol="0" anchor="ctr"/>
          <a:lstStyle/>
          <a:p>
            <a:pPr marL="0" indent="0">
              <a:buNone/>
            </a:pPr>
            <a:r>
              <a:rPr lang="en-US" sz="1600" b="1" dirty="0">
                <a:solidFill>
                  <a:schemeClr val="tx2"/>
                </a:solidFill>
              </a:rPr>
              <a:t>Gia sư, không phải lối tắt</a:t>
            </a:r>
            <a:endParaRPr lang="en-US" sz="1600" dirty="0"/>
          </a:p>
        </p:txBody>
      </p:sp>
      <p:sp>
        <p:nvSpPr>
          <p:cNvPr id="7" name="Mô tả Gia sư, không phải lối tắt"/>
          <p:cNvSpPr txBox="1"/>
          <p:nvPr/>
        </p:nvSpPr>
        <p:spPr>
          <a:xfrm>
            <a:off x="640080" y="2084832"/>
            <a:ext cx="2468880" cy="658368"/>
          </a:xfrm>
          <a:prstGeom prst="rect">
            <a:avLst/>
          </a:prstGeom>
          <a:noFill/>
          <a:ln/>
        </p:spPr>
        <p:txBody>
          <a:bodyPr wrap="square" lIns="0" tIns="0" rIns="0" bIns="0" rtlCol="0" anchor="t"/>
          <a:lstStyle/>
          <a:p>
            <a:pPr marL="0" indent="0">
              <a:buNone/>
            </a:pPr>
            <a:r>
              <a:rPr lang="en-US" sz="1400" dirty="0">
                <a:solidFill>
                  <a:schemeClr val="tx1"/>
                </a:solidFill>
              </a:rPr>
              <a:t>Tự làm trước, rồi nhờ AI gợi ý hoặc giải thích để hiểu bài.</a:t>
            </a:r>
            <a:endParaRPr lang="en-US" sz="1400" dirty="0"/>
          </a:p>
        </p:txBody>
      </p:sp>
      <p:sp>
        <p:nvSpPr>
          <p:cNvPr id="8" name="Thẻ Kiểm chứng đầu ra"/>
          <p:cNvSpPr/>
          <p:nvPr/>
        </p:nvSpPr>
        <p:spPr>
          <a:xfrm>
            <a:off x="3429000" y="1280160"/>
            <a:ext cx="2788920" cy="1508760"/>
          </a:xfrm>
          <a:prstGeom prst="roundRect">
            <a:avLst>
              <a:gd name="adj" fmla="val 7273"/>
            </a:avLst>
          </a:prstGeom>
          <a:solidFill>
            <a:schemeClr val="bg2"/>
          </a:solidFill>
          <a:ln/>
        </p:spPr>
      </p:sp>
      <p:sp>
        <p:nvSpPr>
          <p:cNvPr id="9" name="Biểu tượng Kiểm chứng đầu ra vòng tròn"/>
          <p:cNvSpPr/>
          <p:nvPr/>
        </p:nvSpPr>
        <p:spPr>
          <a:xfrm>
            <a:off x="3611880" y="1463040"/>
            <a:ext cx="502920" cy="502920"/>
          </a:xfrm>
          <a:prstGeom prst="ellipse">
            <a:avLst/>
          </a:prstGeom>
          <a:solidFill>
            <a:schemeClr val="accent2"/>
          </a:solidFill>
          <a:ln/>
        </p:spPr>
      </p:sp>
      <p:pic>
        <p:nvPicPr>
          <p:cNvPr id="10" name="Biểu tượng Kiểm chứng đầu ra" descr="Biểu tượng Kiểm chứng đầu ra"/>
          <p:cNvPicPr>
            <a:picLocks noChangeAspect="1"/>
          </p:cNvPicPr>
          <p:nvPr/>
        </p:nvPicPr>
        <p:blipFill>
          <a:blip r:embed="rId4"/>
          <a:stretch>
            <a:fillRect/>
          </a:stretch>
        </p:blipFill>
        <p:spPr>
          <a:xfrm>
            <a:off x="3737610" y="1588770"/>
            <a:ext cx="251460" cy="251460"/>
          </a:xfrm>
          <a:prstGeom prst="rect">
            <a:avLst/>
          </a:prstGeom>
        </p:spPr>
      </p:pic>
      <p:sp>
        <p:nvSpPr>
          <p:cNvPr id="11" name="Tiêu đề Kiểm chứng đầu ra"/>
          <p:cNvSpPr txBox="1"/>
          <p:nvPr/>
        </p:nvSpPr>
        <p:spPr>
          <a:xfrm>
            <a:off x="4251960" y="1417320"/>
            <a:ext cx="1828800" cy="594360"/>
          </a:xfrm>
          <a:prstGeom prst="rect">
            <a:avLst/>
          </a:prstGeom>
          <a:noFill/>
          <a:ln/>
        </p:spPr>
        <p:txBody>
          <a:bodyPr wrap="square" lIns="0" tIns="0" rIns="0" bIns="0" rtlCol="0" anchor="ctr"/>
          <a:lstStyle/>
          <a:p>
            <a:pPr marL="0" indent="0">
              <a:buNone/>
            </a:pPr>
            <a:r>
              <a:rPr lang="en-US" sz="1600" b="1" dirty="0">
                <a:solidFill>
                  <a:schemeClr val="tx2"/>
                </a:solidFill>
              </a:rPr>
              <a:t>Kiểm chứng đầu ra</a:t>
            </a:r>
            <a:endParaRPr lang="en-US" sz="1600" dirty="0"/>
          </a:p>
        </p:txBody>
      </p:sp>
      <p:sp>
        <p:nvSpPr>
          <p:cNvPr id="12" name="Mô tả Kiểm chứng đầu ra"/>
          <p:cNvSpPr txBox="1"/>
          <p:nvPr/>
        </p:nvSpPr>
        <p:spPr>
          <a:xfrm>
            <a:off x="3611880" y="2084832"/>
            <a:ext cx="2468880" cy="658368"/>
          </a:xfrm>
          <a:prstGeom prst="rect">
            <a:avLst/>
          </a:prstGeom>
          <a:noFill/>
          <a:ln/>
        </p:spPr>
        <p:txBody>
          <a:bodyPr wrap="square" lIns="0" tIns="0" rIns="0" bIns="0" rtlCol="0" anchor="t"/>
          <a:lstStyle/>
          <a:p>
            <a:pPr marL="0" indent="0">
              <a:buNone/>
            </a:pPr>
            <a:r>
              <a:rPr lang="en-US" sz="1400" dirty="0">
                <a:solidFill>
                  <a:schemeClr val="tx1"/>
                </a:solidFill>
              </a:rPr>
              <a:t>AI có thể sai; đối chiếu với nguồn uy tín trước khi dùng.</a:t>
            </a:r>
            <a:endParaRPr lang="en-US" sz="1400" dirty="0"/>
          </a:p>
        </p:txBody>
      </p:sp>
      <p:sp>
        <p:nvSpPr>
          <p:cNvPr id="13" name="Thẻ Minh bạch, liêm chính"/>
          <p:cNvSpPr/>
          <p:nvPr/>
        </p:nvSpPr>
        <p:spPr>
          <a:xfrm>
            <a:off x="457200" y="2926080"/>
            <a:ext cx="2788920" cy="1508760"/>
          </a:xfrm>
          <a:prstGeom prst="roundRect">
            <a:avLst>
              <a:gd name="adj" fmla="val 7273"/>
            </a:avLst>
          </a:prstGeom>
          <a:solidFill>
            <a:schemeClr val="bg2"/>
          </a:solidFill>
          <a:ln/>
        </p:spPr>
      </p:sp>
      <p:sp>
        <p:nvSpPr>
          <p:cNvPr id="14" name="Biểu tượng Minh bạch, liêm chính vòng tròn"/>
          <p:cNvSpPr/>
          <p:nvPr/>
        </p:nvSpPr>
        <p:spPr>
          <a:xfrm>
            <a:off x="640080" y="3108960"/>
            <a:ext cx="502920" cy="502920"/>
          </a:xfrm>
          <a:prstGeom prst="ellipse">
            <a:avLst/>
          </a:prstGeom>
          <a:solidFill>
            <a:schemeClr val="accent2"/>
          </a:solidFill>
          <a:ln/>
        </p:spPr>
      </p:sp>
      <p:pic>
        <p:nvPicPr>
          <p:cNvPr id="15" name="Biểu tượng Minh bạch, liêm chính" descr="Biểu tượng Minh bạch, liêm chính"/>
          <p:cNvPicPr>
            <a:picLocks noChangeAspect="1"/>
          </p:cNvPicPr>
          <p:nvPr/>
        </p:nvPicPr>
        <p:blipFill>
          <a:blip r:embed="rId5"/>
          <a:stretch>
            <a:fillRect/>
          </a:stretch>
        </p:blipFill>
        <p:spPr>
          <a:xfrm>
            <a:off x="765810" y="3234690"/>
            <a:ext cx="251460" cy="251460"/>
          </a:xfrm>
          <a:prstGeom prst="rect">
            <a:avLst/>
          </a:prstGeom>
        </p:spPr>
      </p:pic>
      <p:sp>
        <p:nvSpPr>
          <p:cNvPr id="16" name="Tiêu đề Minh bạch, liêm chính"/>
          <p:cNvSpPr txBox="1"/>
          <p:nvPr/>
        </p:nvSpPr>
        <p:spPr>
          <a:xfrm>
            <a:off x="1280160" y="3063240"/>
            <a:ext cx="1828800" cy="594360"/>
          </a:xfrm>
          <a:prstGeom prst="rect">
            <a:avLst/>
          </a:prstGeom>
          <a:noFill/>
          <a:ln/>
        </p:spPr>
        <p:txBody>
          <a:bodyPr wrap="square" lIns="0" tIns="0" rIns="0" bIns="0" rtlCol="0" anchor="ctr"/>
          <a:lstStyle/>
          <a:p>
            <a:pPr marL="0" indent="0">
              <a:buNone/>
            </a:pPr>
            <a:r>
              <a:rPr lang="en-US" sz="1600" b="1" dirty="0">
                <a:solidFill>
                  <a:schemeClr val="tx2"/>
                </a:solidFill>
              </a:rPr>
              <a:t>Minh bạch, liêm chính</a:t>
            </a:r>
            <a:endParaRPr lang="en-US" sz="1600" dirty="0"/>
          </a:p>
        </p:txBody>
      </p:sp>
      <p:sp>
        <p:nvSpPr>
          <p:cNvPr id="17" name="Mô tả Minh bạch, liêm chính"/>
          <p:cNvSpPr txBox="1"/>
          <p:nvPr/>
        </p:nvSpPr>
        <p:spPr>
          <a:xfrm>
            <a:off x="640080" y="3730752"/>
            <a:ext cx="2468880" cy="658368"/>
          </a:xfrm>
          <a:prstGeom prst="rect">
            <a:avLst/>
          </a:prstGeom>
          <a:noFill/>
          <a:ln/>
        </p:spPr>
        <p:txBody>
          <a:bodyPr wrap="square" lIns="0" tIns="0" rIns="0" bIns="0" rtlCol="0" anchor="t"/>
          <a:lstStyle/>
          <a:p>
            <a:pPr marL="0" indent="0">
              <a:buNone/>
            </a:pPr>
            <a:r>
              <a:rPr lang="en-US" sz="1400" dirty="0">
                <a:solidFill>
                  <a:schemeClr val="tx1"/>
                </a:solidFill>
              </a:rPr>
              <a:t>Ghi rõ phần có AI hỗ trợ và trích dẫn nguồn đúng cách.</a:t>
            </a:r>
            <a:endParaRPr lang="en-US" sz="1400" dirty="0"/>
          </a:p>
        </p:txBody>
      </p:sp>
      <p:sp>
        <p:nvSpPr>
          <p:cNvPr id="18" name="Thẻ Bảo vệ dữ liệu cá nhân"/>
          <p:cNvSpPr/>
          <p:nvPr/>
        </p:nvSpPr>
        <p:spPr>
          <a:xfrm>
            <a:off x="3429000" y="2926080"/>
            <a:ext cx="2788920" cy="1508760"/>
          </a:xfrm>
          <a:prstGeom prst="roundRect">
            <a:avLst>
              <a:gd name="adj" fmla="val 7273"/>
            </a:avLst>
          </a:prstGeom>
          <a:solidFill>
            <a:schemeClr val="bg2"/>
          </a:solidFill>
          <a:ln/>
        </p:spPr>
      </p:sp>
      <p:sp>
        <p:nvSpPr>
          <p:cNvPr id="19" name="Biểu tượng Bảo vệ dữ liệu cá nhân vòng tròn"/>
          <p:cNvSpPr/>
          <p:nvPr/>
        </p:nvSpPr>
        <p:spPr>
          <a:xfrm>
            <a:off x="3611880" y="3108960"/>
            <a:ext cx="502920" cy="502920"/>
          </a:xfrm>
          <a:prstGeom prst="ellipse">
            <a:avLst/>
          </a:prstGeom>
          <a:solidFill>
            <a:schemeClr val="accent2"/>
          </a:solidFill>
          <a:ln/>
        </p:spPr>
      </p:sp>
      <p:pic>
        <p:nvPicPr>
          <p:cNvPr id="20" name="Biểu tượng Bảo vệ dữ liệu cá nhân" descr="Biểu tượng Bảo vệ dữ liệu cá nhân"/>
          <p:cNvPicPr>
            <a:picLocks noChangeAspect="1"/>
          </p:cNvPicPr>
          <p:nvPr/>
        </p:nvPicPr>
        <p:blipFill>
          <a:blip r:embed="rId6"/>
          <a:stretch>
            <a:fillRect/>
          </a:stretch>
        </p:blipFill>
        <p:spPr>
          <a:xfrm>
            <a:off x="3737610" y="3234690"/>
            <a:ext cx="251460" cy="251460"/>
          </a:xfrm>
          <a:prstGeom prst="rect">
            <a:avLst/>
          </a:prstGeom>
        </p:spPr>
      </p:pic>
      <p:sp>
        <p:nvSpPr>
          <p:cNvPr id="21" name="Tiêu đề Bảo vệ dữ liệu cá nhân"/>
          <p:cNvSpPr txBox="1"/>
          <p:nvPr/>
        </p:nvSpPr>
        <p:spPr>
          <a:xfrm>
            <a:off x="4251960" y="3063240"/>
            <a:ext cx="1828800" cy="594360"/>
          </a:xfrm>
          <a:prstGeom prst="rect">
            <a:avLst/>
          </a:prstGeom>
          <a:noFill/>
          <a:ln/>
        </p:spPr>
        <p:txBody>
          <a:bodyPr wrap="square" lIns="0" tIns="0" rIns="0" bIns="0" rtlCol="0" anchor="ctr"/>
          <a:lstStyle/>
          <a:p>
            <a:pPr marL="0" indent="0">
              <a:buNone/>
            </a:pPr>
            <a:r>
              <a:rPr lang="en-US" sz="1600" b="1" dirty="0">
                <a:solidFill>
                  <a:schemeClr val="tx2"/>
                </a:solidFill>
              </a:rPr>
              <a:t>Bảo vệ dữ liệu cá nhân</a:t>
            </a:r>
            <a:endParaRPr lang="en-US" sz="1600" dirty="0"/>
          </a:p>
        </p:txBody>
      </p:sp>
      <p:sp>
        <p:nvSpPr>
          <p:cNvPr id="22" name="Mô tả Bảo vệ dữ liệu cá nhân"/>
          <p:cNvSpPr txBox="1"/>
          <p:nvPr/>
        </p:nvSpPr>
        <p:spPr>
          <a:xfrm>
            <a:off x="3611880" y="3730752"/>
            <a:ext cx="2468880" cy="658368"/>
          </a:xfrm>
          <a:prstGeom prst="rect">
            <a:avLst/>
          </a:prstGeom>
          <a:noFill/>
          <a:ln/>
        </p:spPr>
        <p:txBody>
          <a:bodyPr wrap="square" lIns="0" tIns="0" rIns="0" bIns="0" rtlCol="0" anchor="t"/>
          <a:lstStyle/>
          <a:p>
            <a:pPr marL="0" indent="0">
              <a:buNone/>
            </a:pPr>
            <a:r>
              <a:rPr lang="en-US" sz="1400" dirty="0">
                <a:solidFill>
                  <a:schemeClr val="tx1"/>
                </a:solidFill>
              </a:rPr>
              <a:t>Không nhập thông tin nhạy cảm vào công cụ AI công khai.</a:t>
            </a:r>
            <a:endParaRPr lang="en-US" sz="1400" dirty="0"/>
          </a:p>
        </p:txBody>
      </p:sp>
      <p:sp>
        <p:nvSpPr>
          <p:cNvPr id="23" name="Thẻ EDUCAUSE"/>
          <p:cNvSpPr/>
          <p:nvPr/>
        </p:nvSpPr>
        <p:spPr>
          <a:xfrm>
            <a:off x="6492240" y="1280160"/>
            <a:ext cx="2194560" cy="3154680"/>
          </a:xfrm>
          <a:prstGeom prst="roundRect">
            <a:avLst>
              <a:gd name="adj" fmla="val 5000"/>
            </a:avLst>
          </a:prstGeom>
          <a:solidFill>
            <a:schemeClr val="tx2"/>
          </a:solidFill>
          <a:ln/>
        </p:spPr>
      </p:sp>
      <p:sp>
        <p:nvSpPr>
          <p:cNvPr id="24" name="Số liệu EDUCAUSE"/>
          <p:cNvSpPr txBox="1"/>
          <p:nvPr/>
        </p:nvSpPr>
        <p:spPr>
          <a:xfrm>
            <a:off x="6675120" y="1463040"/>
            <a:ext cx="1828800" cy="822960"/>
          </a:xfrm>
          <a:prstGeom prst="rect">
            <a:avLst/>
          </a:prstGeom>
          <a:noFill/>
          <a:ln/>
        </p:spPr>
        <p:txBody>
          <a:bodyPr wrap="square" lIns="0" tIns="0" rIns="0" bIns="0" rtlCol="0" anchor="ctr"/>
          <a:lstStyle/>
          <a:p>
            <a:pPr marL="0" indent="0">
              <a:buNone/>
            </a:pPr>
            <a:r>
              <a:rPr lang="en-US" sz="4800" b="1" dirty="0">
                <a:solidFill>
                  <a:schemeClr val="accent1"/>
                </a:solidFill>
                <a:latin typeface="Cambria" pitchFamily="34" charset="0"/>
                <a:ea typeface="Cambria" pitchFamily="34" charset="-122"/>
                <a:cs typeface="Cambria" pitchFamily="34" charset="-120"/>
              </a:rPr>
              <a:t>39%</a:t>
            </a:r>
            <a:endParaRPr lang="en-US" sz="4800" dirty="0"/>
          </a:p>
        </p:txBody>
      </p:sp>
      <p:sp>
        <p:nvSpPr>
          <p:cNvPr id="25" name="Chú giải EDUCAUSE"/>
          <p:cNvSpPr txBox="1"/>
          <p:nvPr/>
        </p:nvSpPr>
        <p:spPr>
          <a:xfrm>
            <a:off x="6675120" y="2377440"/>
            <a:ext cx="1874520" cy="1463040"/>
          </a:xfrm>
          <a:prstGeom prst="rect">
            <a:avLst/>
          </a:prstGeom>
          <a:noFill/>
          <a:ln/>
        </p:spPr>
        <p:txBody>
          <a:bodyPr wrap="square" lIns="0" tIns="0" rIns="0" bIns="0" rtlCol="0" anchor="t"/>
          <a:lstStyle/>
          <a:p>
            <a:pPr marL="0" indent="0">
              <a:buNone/>
            </a:pPr>
            <a:r>
              <a:rPr lang="en-US" sz="1400" dirty="0">
                <a:solidFill>
                  <a:schemeClr val="bg1"/>
                </a:solidFill>
              </a:rPr>
              <a:t>người được hỏi cho biết trường có chính sách sử dụng AI (năm trước: 23%)</a:t>
            </a:r>
            <a:endParaRPr lang="en-US" sz="1400" dirty="0"/>
          </a:p>
        </p:txBody>
      </p:sp>
      <p:sp>
        <p:nvSpPr>
          <p:cNvPr id="26" name="Nguồn EDUCAUSE"/>
          <p:cNvSpPr txBox="1"/>
          <p:nvPr/>
        </p:nvSpPr>
        <p:spPr>
          <a:xfrm>
            <a:off x="6675120" y="3931920"/>
            <a:ext cx="1874520" cy="365760"/>
          </a:xfrm>
          <a:prstGeom prst="rect">
            <a:avLst/>
          </a:prstGeom>
          <a:noFill/>
          <a:ln/>
        </p:spPr>
        <p:txBody>
          <a:bodyPr wrap="square" lIns="0" tIns="0" rIns="0" bIns="0" rtlCol="0" anchor="ctr"/>
          <a:lstStyle/>
          <a:p>
            <a:pPr marL="0" indent="0">
              <a:buNone/>
            </a:pPr>
            <a:r>
              <a:rPr lang="en-US" sz="1200" i="1" dirty="0">
                <a:solidFill>
                  <a:schemeClr val="bg2"/>
                </a:solidFill>
              </a:rPr>
              <a:t>EDUCAUSE, 2025</a:t>
            </a:r>
            <a:endParaRPr lang="en-US" sz="1200" dirty="0"/>
          </a:p>
        </p:txBody>
      </p:sp>
      <p:sp>
        <p:nvSpPr>
          <p:cNvPr id="27" name="Nguồn"/>
          <p:cNvSpPr txBox="1"/>
          <p:nvPr/>
        </p:nvSpPr>
        <p:spPr>
          <a:xfrm>
            <a:off x="457200" y="4617720"/>
            <a:ext cx="7589520" cy="320040"/>
          </a:xfrm>
          <a:prstGeom prst="rect">
            <a:avLst/>
          </a:prstGeom>
          <a:noFill/>
          <a:ln/>
        </p:spPr>
        <p:txBody>
          <a:bodyPr wrap="square" lIns="0" tIns="0" rIns="0" bIns="0" rtlCol="0" anchor="ctr"/>
          <a:lstStyle/>
          <a:p>
            <a:pPr marL="0" indent="0">
              <a:buNone/>
            </a:pPr>
            <a:r>
              <a:rPr lang="en-US" sz="1100" i="1" dirty="0">
                <a:solidFill>
                  <a:schemeClr val="accent5"/>
                </a:solidFill>
              </a:rPr>
              <a:t>Gợi ý của nhóm dựa trên UNESCO (2023), OECD (2026), Bastani et al. (2025); số liệu: EDUCAUSE (2025)</a:t>
            </a:r>
            <a:endParaRPr lang="en-US" sz="1100" dirty="0"/>
          </a:p>
        </p:txBody>
      </p:sp>
      <p:sp>
        <p:nvSpPr>
          <p:cNvPr id="28"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Đánh giá nguồn theo CRAAP</a:t>
            </a:r>
            <a:endParaRPr lang="en-US" sz="3400" dirty="0"/>
          </a:p>
        </p:txBody>
      </p:sp>
      <p:graphicFrame>
        <p:nvGraphicFramePr>
          <p:cNvPr id="10" name="Bảng CRAAP"/>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2944368"/>
        </p:xfrm>
        <a:graphic>
          <a:graphicData uri="http://schemas.openxmlformats.org/drawingml/2006/table">
            <a:tbl>
              <a:tblPr/>
              <a:tblGrid>
                <a:gridCol w="265176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tblGrid>
              <a:tr h="420624">
                <a:tc>
                  <a:txBody>
                    <a:bodyPr/>
                    <a:lstStyle/>
                    <a:p>
                      <a:pPr marL="0" indent="0" algn="l">
                        <a:buNone/>
                      </a:pPr>
                      <a:r>
                        <a:rPr lang="en-US" sz="1200" b="1" dirty="0">
                          <a:solidFill>
                            <a:schemeClr val="bg1"/>
                          </a:solidFill>
                          <a:latin typeface="Calibri" pitchFamily="34" charset="0"/>
                          <a:ea typeface="Calibri" pitchFamily="34" charset="-122"/>
                          <a:cs typeface="Calibri" pitchFamily="34" charset="-120"/>
                        </a:rPr>
                        <a:t>Nguồn</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Mới</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Liên quan</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Uy tín</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Chính xác</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Mục đích</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marL="0" indent="0" algn="ctr">
                        <a:buNone/>
                      </a:pPr>
                      <a:r>
                        <a:rPr lang="en-US" sz="1200" b="1" dirty="0">
                          <a:solidFill>
                            <a:schemeClr val="bg1"/>
                          </a:solidFill>
                          <a:latin typeface="Calibri" pitchFamily="34" charset="0"/>
                          <a:ea typeface="Calibri" pitchFamily="34" charset="-122"/>
                          <a:cs typeface="Calibri" pitchFamily="34" charset="-120"/>
                        </a:rPr>
                        <a:t>Tổng</a:t>
                      </a:r>
                      <a:endParaRPr lang="en-US" sz="12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tx2"/>
                    </a:solidFill>
                  </a:tcPr>
                </a:tc>
                <a:extLst>
                  <a:ext uri="{0D108BD9-81ED-4DB2-BD59-A6C34878D82A}">
                    <a16:rowId xmlns:a16="http://schemas.microsoft.com/office/drawing/2014/main" val="10000"/>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UNESCO (2023)</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b="1" dirty="0">
                          <a:solidFill>
                            <a:schemeClr val="accent2"/>
                          </a:solidFill>
                          <a:latin typeface="Calibri" pitchFamily="34" charset="0"/>
                          <a:ea typeface="Calibri" pitchFamily="34" charset="-122"/>
                          <a:cs typeface="Calibri" pitchFamily="34" charset="-120"/>
                        </a:rPr>
                        <a:t>24/25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1"/>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OECD (2026)</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b="1" dirty="0">
                          <a:solidFill>
                            <a:schemeClr val="accent2"/>
                          </a:solidFill>
                          <a:latin typeface="Calibri" pitchFamily="34" charset="0"/>
                          <a:ea typeface="Calibri" pitchFamily="34" charset="-122"/>
                          <a:cs typeface="Calibri" pitchFamily="34" charset="-120"/>
                        </a:rPr>
                        <a:t>25/25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2"/>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Bastani et al., PNAS (2025)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b="1" dirty="0">
                          <a:solidFill>
                            <a:schemeClr val="accent2"/>
                          </a:solidFill>
                          <a:latin typeface="Calibri" pitchFamily="34" charset="0"/>
                          <a:ea typeface="Calibri" pitchFamily="34" charset="-122"/>
                          <a:cs typeface="Calibri" pitchFamily="34" charset="-120"/>
                        </a:rPr>
                        <a:t>24/25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3"/>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Kasneci et al. (2023)</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b="1" dirty="0">
                          <a:solidFill>
                            <a:schemeClr val="accent2"/>
                          </a:solidFill>
                          <a:latin typeface="Calibri" pitchFamily="34" charset="0"/>
                          <a:ea typeface="Calibri" pitchFamily="34" charset="-122"/>
                          <a:cs typeface="Calibri" pitchFamily="34" charset="-120"/>
                        </a:rPr>
                        <a:t>22/25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4"/>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DEC Student Survey (2024)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marL="0" indent="0" algn="ctr">
                        <a:buNone/>
                      </a:pPr>
                      <a:r>
                        <a:rPr lang="en-US" sz="1400" b="1" dirty="0">
                          <a:solidFill>
                            <a:schemeClr val="accent2"/>
                          </a:solidFill>
                          <a:latin typeface="Calibri" pitchFamily="34" charset="0"/>
                          <a:ea typeface="Calibri" pitchFamily="34" charset="-122"/>
                          <a:cs typeface="Calibri" pitchFamily="34" charset="-120"/>
                        </a:rPr>
                        <a:t>19/25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2"/>
                    </a:solidFill>
                  </a:tcPr>
                </a:tc>
                <a:extLst>
                  <a:ext uri="{0D108BD9-81ED-4DB2-BD59-A6C34878D82A}">
                    <a16:rowId xmlns:a16="http://schemas.microsoft.com/office/drawing/2014/main" val="10005"/>
                  </a:ext>
                </a:extLst>
              </a:tr>
              <a:tr h="420624">
                <a:tc>
                  <a:txBody>
                    <a:bodyPr/>
                    <a:lstStyle/>
                    <a:p>
                      <a:pPr marL="0" indent="0" algn="l">
                        <a:buNone/>
                      </a:pPr>
                      <a:r>
                        <a:rPr lang="en-US" sz="1400" dirty="0">
                          <a:solidFill>
                            <a:schemeClr val="tx1"/>
                          </a:solidFill>
                          <a:latin typeface="Calibri" pitchFamily="34" charset="0"/>
                          <a:ea typeface="Calibri" pitchFamily="34" charset="-122"/>
                          <a:cs typeface="Calibri" pitchFamily="34" charset="-120"/>
                        </a:rPr>
                        <a:t>EDUCAUSE (2025)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dirty="0">
                          <a:solidFill>
                            <a:schemeClr val="tx1"/>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marL="0" indent="0" algn="ctr">
                        <a:buNone/>
                      </a:pPr>
                      <a:r>
                        <a:rPr lang="en-US" sz="1400" b="1" dirty="0">
                          <a:solidFill>
                            <a:schemeClr val="accent2"/>
                          </a:solidFill>
                          <a:latin typeface="Calibri" pitchFamily="34" charset="0"/>
                          <a:ea typeface="Calibri" pitchFamily="34" charset="-122"/>
                          <a:cs typeface="Calibri" pitchFamily="34" charset="-120"/>
                        </a:rPr>
                        <a:t>20/25</a:t>
                      </a:r>
                      <a:endParaRPr lang="en-US" sz="1400" dirty="0">
                        <a:latin typeface="Calibri" charset="0"/>
                        <a:ea typeface="Calibri" charset="0"/>
                        <a:cs typeface="Calibri" charset="0"/>
                      </a:endParaRPr>
                    </a:p>
                  </a:txBody>
                  <a:tcPr marT="0" marB="0" anchor="ctr">
                    <a:lnL w="0" cap="flat" cmpd="sng" algn="ctr">
                      <a:noFill/>
                    </a:lnL>
                    <a:lnR w="0" cap="flat" cmpd="sng" algn="ctr">
                      <a:noFill/>
                    </a:lnR>
                    <a:lnT w="0" cap="flat" cmpd="sng" algn="ctr">
                      <a:noFill/>
                    </a:lnT>
                    <a:lnB w="0" cap="flat" cmpd="sng" algn="ctr">
                      <a:noFill/>
                    </a:lnB>
                    <a:solidFill>
                      <a:schemeClr val="bg1"/>
                    </a:solidFill>
                  </a:tcPr>
                </a:tc>
                <a:extLst>
                  <a:ext uri="{0D108BD9-81ED-4DB2-BD59-A6C34878D82A}">
                    <a16:rowId xmlns:a16="http://schemas.microsoft.com/office/drawing/2014/main" val="10006"/>
                  </a:ext>
                </a:extLst>
              </a:tr>
            </a:tbl>
          </a:graphicData>
        </a:graphic>
      </p:graphicFrame>
      <p:sp>
        <p:nvSpPr>
          <p:cNvPr id="4" name="Nguồn"/>
          <p:cNvSpPr txBox="1"/>
          <p:nvPr/>
        </p:nvSpPr>
        <p:spPr>
          <a:xfrm>
            <a:off x="457200" y="4617720"/>
            <a:ext cx="7589520" cy="320040"/>
          </a:xfrm>
          <a:prstGeom prst="rect">
            <a:avLst/>
          </a:prstGeom>
          <a:noFill/>
          <a:ln/>
        </p:spPr>
        <p:txBody>
          <a:bodyPr wrap="square" lIns="0" tIns="0" rIns="0" bIns="0" rtlCol="0" anchor="ctr"/>
          <a:lstStyle/>
          <a:p>
            <a:pPr marL="0" indent="0">
              <a:buNone/>
            </a:pPr>
            <a:r>
              <a:rPr lang="en-US" sz="1100" i="1" dirty="0">
                <a:solidFill>
                  <a:schemeClr val="accent5"/>
                </a:solidFill>
              </a:rPr>
              <a:t>Thang 1–5 cho mỗi tiêu chí (tối đa 25). Điểm do nhóm tự đánh giá, cần rà soát lại trước khi nộp.</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Video giới thiệu</a:t>
            </a:r>
            <a:endParaRPr lang="en-US" sz="3400" dirty="0"/>
          </a:p>
        </p:txBody>
      </p:sp>
      <p:sp>
        <p:nvSpPr>
          <p:cNvPr id="3" name="Khung video"/>
          <p:cNvSpPr/>
          <p:nvPr/>
        </p:nvSpPr>
        <p:spPr>
          <a:xfrm>
            <a:off x="457200" y="1280160"/>
            <a:ext cx="4754880" cy="2926080"/>
          </a:xfrm>
          <a:prstGeom prst="roundRect">
            <a:avLst>
              <a:gd name="adj" fmla="val 3750"/>
            </a:avLst>
          </a:prstGeom>
          <a:solidFill>
            <a:schemeClr val="tx2"/>
          </a:solidFill>
          <a:ln/>
        </p:spPr>
      </p:sp>
      <p:sp>
        <p:nvSpPr>
          <p:cNvPr id="4" name="Nút phát"/>
          <p:cNvSpPr/>
          <p:nvPr/>
        </p:nvSpPr>
        <p:spPr>
          <a:xfrm>
            <a:off x="2240280" y="2240280"/>
            <a:ext cx="1188720" cy="1188720"/>
          </a:xfrm>
          <a:prstGeom prst="ellipse">
            <a:avLst/>
          </a:prstGeom>
          <a:solidFill>
            <a:schemeClr val="accent1"/>
          </a:solidFill>
          <a:ln/>
        </p:spPr>
      </p:sp>
      <p:pic>
        <p:nvPicPr>
          <p:cNvPr id="5" name="Biểu tượng phát" descr="Biểu tượng phát video"/>
          <p:cNvPicPr>
            <a:picLocks noChangeAspect="1"/>
          </p:cNvPicPr>
          <p:nvPr/>
        </p:nvPicPr>
        <p:blipFill>
          <a:blip r:embed="rId3"/>
          <a:stretch>
            <a:fillRect/>
          </a:stretch>
        </p:blipFill>
        <p:spPr>
          <a:xfrm>
            <a:off x="2633472" y="2606040"/>
            <a:ext cx="457200" cy="457200"/>
          </a:xfrm>
          <a:prstGeom prst="rect">
            <a:avLst/>
          </a:prstGeom>
        </p:spPr>
      </p:pic>
      <p:sp>
        <p:nvSpPr>
          <p:cNvPr id="6" name="Nhãn Thời lượng"/>
          <p:cNvSpPr txBox="1"/>
          <p:nvPr/>
        </p:nvSpPr>
        <p:spPr>
          <a:xfrm>
            <a:off x="5486400" y="1280160"/>
            <a:ext cx="3200400" cy="320040"/>
          </a:xfrm>
          <a:prstGeom prst="rect">
            <a:avLst/>
          </a:prstGeom>
          <a:noFill/>
          <a:ln/>
        </p:spPr>
        <p:txBody>
          <a:bodyPr wrap="square" lIns="0" tIns="0" rIns="0" bIns="0" rtlCol="0" anchor="ctr"/>
          <a:lstStyle/>
          <a:p>
            <a:pPr marL="0" indent="0">
              <a:buNone/>
            </a:pPr>
            <a:r>
              <a:rPr lang="en-US" sz="1600" b="1" dirty="0">
                <a:solidFill>
                  <a:schemeClr val="tx2"/>
                </a:solidFill>
              </a:rPr>
              <a:t>Thời lượng</a:t>
            </a:r>
            <a:endParaRPr lang="en-US" sz="1600" dirty="0"/>
          </a:p>
        </p:txBody>
      </p:sp>
      <p:sp>
        <p:nvSpPr>
          <p:cNvPr id="7" name="Giá trị Thời lượng"/>
          <p:cNvSpPr txBox="1"/>
          <p:nvPr/>
        </p:nvSpPr>
        <p:spPr>
          <a:xfrm>
            <a:off x="5486400" y="1627632"/>
            <a:ext cx="3200400" cy="594360"/>
          </a:xfrm>
          <a:prstGeom prst="rect">
            <a:avLst/>
          </a:prstGeom>
          <a:noFill/>
          <a:ln/>
        </p:spPr>
        <p:txBody>
          <a:bodyPr wrap="square" lIns="0" tIns="0" rIns="0" bIns="0" rtlCol="0" anchor="t"/>
          <a:lstStyle/>
          <a:p>
            <a:pPr marL="0" indent="0">
              <a:buNone/>
            </a:pPr>
            <a:r>
              <a:rPr lang="en-US" sz="1400" dirty="0">
                <a:solidFill>
                  <a:schemeClr val="tx1"/>
                </a:solidFill>
              </a:rPr>
              <a:t>5–10 phút</a:t>
            </a:r>
            <a:endParaRPr lang="en-US" sz="1400" dirty="0"/>
          </a:p>
        </p:txBody>
      </p:sp>
      <p:sp>
        <p:nvSpPr>
          <p:cNvPr id="8" name="Nhãn Nội dung"/>
          <p:cNvSpPr txBox="1"/>
          <p:nvPr/>
        </p:nvSpPr>
        <p:spPr>
          <a:xfrm>
            <a:off x="5486400" y="2286000"/>
            <a:ext cx="3200400" cy="320040"/>
          </a:xfrm>
          <a:prstGeom prst="rect">
            <a:avLst/>
          </a:prstGeom>
          <a:noFill/>
          <a:ln/>
        </p:spPr>
        <p:txBody>
          <a:bodyPr wrap="square" lIns="0" tIns="0" rIns="0" bIns="0" rtlCol="0" anchor="ctr"/>
          <a:lstStyle/>
          <a:p>
            <a:pPr marL="0" indent="0">
              <a:buNone/>
            </a:pPr>
            <a:r>
              <a:rPr lang="en-US" sz="1600" b="1" dirty="0">
                <a:solidFill>
                  <a:schemeClr val="tx2"/>
                </a:solidFill>
              </a:rPr>
              <a:t>Nội dung</a:t>
            </a:r>
            <a:endParaRPr lang="en-US" sz="1600" dirty="0"/>
          </a:p>
        </p:txBody>
      </p:sp>
      <p:sp>
        <p:nvSpPr>
          <p:cNvPr id="9" name="Giá trị Nội dung"/>
          <p:cNvSpPr txBox="1"/>
          <p:nvPr/>
        </p:nvSpPr>
        <p:spPr>
          <a:xfrm>
            <a:off x="5486400" y="2633472"/>
            <a:ext cx="3200400" cy="594360"/>
          </a:xfrm>
          <a:prstGeom prst="rect">
            <a:avLst/>
          </a:prstGeom>
          <a:noFill/>
          <a:ln/>
        </p:spPr>
        <p:txBody>
          <a:bodyPr wrap="square" lIns="0" tIns="0" rIns="0" bIns="0" rtlCol="0" anchor="t"/>
          <a:lstStyle/>
          <a:p>
            <a:pPr marL="0" indent="0">
              <a:buNone/>
            </a:pPr>
            <a:r>
              <a:rPr lang="en-US" sz="1400" dirty="0">
                <a:solidFill>
                  <a:schemeClr val="tx1"/>
                </a:solidFill>
              </a:rPr>
              <a:t>Thuyết minh, hình ảnh từ nghiên cứu và các thành viên giải thích điểm chính.</a:t>
            </a:r>
            <a:endParaRPr lang="en-US" sz="1400" dirty="0"/>
          </a:p>
        </p:txBody>
      </p:sp>
      <p:sp>
        <p:nvSpPr>
          <p:cNvPr id="10" name="Nhãn Liên kết YouTube"/>
          <p:cNvSpPr txBox="1"/>
          <p:nvPr/>
        </p:nvSpPr>
        <p:spPr>
          <a:xfrm>
            <a:off x="5486400" y="3291840"/>
            <a:ext cx="3200400" cy="320040"/>
          </a:xfrm>
          <a:prstGeom prst="rect">
            <a:avLst/>
          </a:prstGeom>
          <a:noFill/>
          <a:ln/>
        </p:spPr>
        <p:txBody>
          <a:bodyPr wrap="square" lIns="0" tIns="0" rIns="0" bIns="0" rtlCol="0" anchor="ctr"/>
          <a:lstStyle/>
          <a:p>
            <a:pPr marL="0" indent="0">
              <a:buNone/>
            </a:pPr>
            <a:r>
              <a:rPr lang="en-US" sz="1600" b="1" dirty="0">
                <a:solidFill>
                  <a:schemeClr val="tx2"/>
                </a:solidFill>
              </a:rPr>
              <a:t>Liên kết YouTube</a:t>
            </a:r>
            <a:endParaRPr lang="en-US" sz="1600" dirty="0"/>
          </a:p>
        </p:txBody>
      </p:sp>
      <p:sp>
        <p:nvSpPr>
          <p:cNvPr id="11" name="Giá trị Liên kết YouTube"/>
          <p:cNvSpPr txBox="1"/>
          <p:nvPr/>
        </p:nvSpPr>
        <p:spPr>
          <a:xfrm>
            <a:off x="5486400" y="3639312"/>
            <a:ext cx="3200400" cy="594360"/>
          </a:xfrm>
          <a:prstGeom prst="rect">
            <a:avLst/>
          </a:prstGeom>
          <a:noFill/>
          <a:ln/>
        </p:spPr>
        <p:txBody>
          <a:bodyPr wrap="square" lIns="0" tIns="0" rIns="0" bIns="0" rtlCol="0" anchor="t"/>
          <a:lstStyle/>
          <a:p>
            <a:pPr marL="0" indent="0">
              <a:buNone/>
            </a:pPr>
            <a:r>
              <a:rPr lang="en-US" sz="1400" dirty="0">
                <a:solidFill>
                  <a:schemeClr val="tx1"/>
                </a:solidFill>
              </a:rPr>
              <a:t>[dán liên kết video tại đây]</a:t>
            </a:r>
            <a:endParaRPr lang="en-US" sz="14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bg1"/>
                </a:solidFill>
                <a:latin typeface="Cambria" pitchFamily="34" charset="0"/>
                <a:ea typeface="Cambria" pitchFamily="34" charset="-122"/>
                <a:cs typeface="Cambria" pitchFamily="34" charset="-120"/>
              </a:rPr>
              <a:t>Câu hỏi thảo luận</a:t>
            </a:r>
            <a:endParaRPr lang="en-US" sz="3400" dirty="0"/>
          </a:p>
        </p:txBody>
      </p:sp>
      <p:sp>
        <p:nvSpPr>
          <p:cNvPr id="3" name="Số câu hỏi 1"/>
          <p:cNvSpPr/>
          <p:nvPr/>
        </p:nvSpPr>
        <p:spPr>
          <a:xfrm>
            <a:off x="457200" y="1371600"/>
            <a:ext cx="640080" cy="640080"/>
          </a:xfrm>
          <a:prstGeom prst="ellipse">
            <a:avLst/>
          </a:prstGeom>
          <a:solidFill>
            <a:schemeClr val="accent1"/>
          </a:solidFill>
          <a:ln/>
        </p:spPr>
      </p:sp>
      <p:sp>
        <p:nvSpPr>
          <p:cNvPr id="4" name="Số 1"/>
          <p:cNvSpPr txBox="1"/>
          <p:nvPr/>
        </p:nvSpPr>
        <p:spPr>
          <a:xfrm>
            <a:off x="457200" y="137160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1</a:t>
            </a:r>
            <a:endParaRPr lang="en-US" sz="2400" dirty="0"/>
          </a:p>
        </p:txBody>
      </p:sp>
      <p:sp>
        <p:nvSpPr>
          <p:cNvPr id="5" name="Câu hỏi 1"/>
          <p:cNvSpPr txBox="1"/>
          <p:nvPr/>
        </p:nvSpPr>
        <p:spPr>
          <a:xfrm>
            <a:off x="1371600" y="1280160"/>
            <a:ext cx="7315200" cy="822960"/>
          </a:xfrm>
          <a:prstGeom prst="rect">
            <a:avLst/>
          </a:prstGeom>
          <a:noFill/>
          <a:ln/>
        </p:spPr>
        <p:txBody>
          <a:bodyPr wrap="square" lIns="0" tIns="0" rIns="0" bIns="0" rtlCol="0" anchor="ctr"/>
          <a:lstStyle/>
          <a:p>
            <a:pPr marL="0" indent="0">
              <a:buNone/>
            </a:pPr>
            <a:r>
              <a:rPr lang="en-US" sz="2000" dirty="0">
                <a:solidFill>
                  <a:schemeClr val="bg1"/>
                </a:solidFill>
              </a:rPr>
              <a:t>Bạn đang dùng AI như một gia sư hay như một lối tắt khi học?</a:t>
            </a:r>
            <a:endParaRPr lang="en-US" sz="2000" dirty="0"/>
          </a:p>
        </p:txBody>
      </p:sp>
      <p:sp>
        <p:nvSpPr>
          <p:cNvPr id="6" name="Số câu hỏi 2"/>
          <p:cNvSpPr/>
          <p:nvPr/>
        </p:nvSpPr>
        <p:spPr>
          <a:xfrm>
            <a:off x="457200" y="2423160"/>
            <a:ext cx="640080" cy="640080"/>
          </a:xfrm>
          <a:prstGeom prst="ellipse">
            <a:avLst/>
          </a:prstGeom>
          <a:solidFill>
            <a:schemeClr val="accent1"/>
          </a:solidFill>
          <a:ln/>
        </p:spPr>
      </p:sp>
      <p:sp>
        <p:nvSpPr>
          <p:cNvPr id="7" name="Số 2"/>
          <p:cNvSpPr txBox="1"/>
          <p:nvPr/>
        </p:nvSpPr>
        <p:spPr>
          <a:xfrm>
            <a:off x="457200" y="242316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2</a:t>
            </a:r>
            <a:endParaRPr lang="en-US" sz="2400" dirty="0"/>
          </a:p>
        </p:txBody>
      </p:sp>
      <p:sp>
        <p:nvSpPr>
          <p:cNvPr id="8" name="Câu hỏi 2"/>
          <p:cNvSpPr txBox="1"/>
          <p:nvPr/>
        </p:nvSpPr>
        <p:spPr>
          <a:xfrm>
            <a:off x="1371600" y="2331720"/>
            <a:ext cx="7315200" cy="822960"/>
          </a:xfrm>
          <a:prstGeom prst="rect">
            <a:avLst/>
          </a:prstGeom>
          <a:noFill/>
          <a:ln/>
        </p:spPr>
        <p:txBody>
          <a:bodyPr wrap="square" lIns="0" tIns="0" rIns="0" bIns="0" rtlCol="0" anchor="ctr"/>
          <a:lstStyle/>
          <a:p>
            <a:pPr marL="0" indent="0">
              <a:buNone/>
            </a:pPr>
            <a:r>
              <a:rPr lang="en-US" sz="2000" dirty="0">
                <a:solidFill>
                  <a:schemeClr val="bg1"/>
                </a:solidFill>
              </a:rPr>
              <a:t>Nhà trường nên đặt ra quy định nào để AI hỗ trợ mà không thay thế việc học?</a:t>
            </a:r>
            <a:endParaRPr lang="en-US" sz="2000" dirty="0"/>
          </a:p>
        </p:txBody>
      </p:sp>
      <p:sp>
        <p:nvSpPr>
          <p:cNvPr id="9" name="Số câu hỏi 3"/>
          <p:cNvSpPr/>
          <p:nvPr/>
        </p:nvSpPr>
        <p:spPr>
          <a:xfrm>
            <a:off x="457200" y="3474720"/>
            <a:ext cx="640080" cy="640080"/>
          </a:xfrm>
          <a:prstGeom prst="ellipse">
            <a:avLst/>
          </a:prstGeom>
          <a:solidFill>
            <a:schemeClr val="accent1"/>
          </a:solidFill>
          <a:ln/>
        </p:spPr>
      </p:sp>
      <p:sp>
        <p:nvSpPr>
          <p:cNvPr id="10" name="Số 3"/>
          <p:cNvSpPr txBox="1"/>
          <p:nvPr/>
        </p:nvSpPr>
        <p:spPr>
          <a:xfrm>
            <a:off x="457200" y="3474720"/>
            <a:ext cx="640080" cy="640080"/>
          </a:xfrm>
          <a:prstGeom prst="rect">
            <a:avLst/>
          </a:prstGeom>
          <a:noFill/>
          <a:ln/>
        </p:spPr>
        <p:txBody>
          <a:bodyPr wrap="square" lIns="0" tIns="0" rIns="0" bIns="0" rtlCol="0" anchor="ctr"/>
          <a:lstStyle/>
          <a:p>
            <a:pPr marL="0" indent="0" algn="ctr">
              <a:buNone/>
            </a:pPr>
            <a:r>
              <a:rPr lang="en-US" sz="2400" b="1" dirty="0">
                <a:solidFill>
                  <a:schemeClr val="tx1"/>
                </a:solidFill>
              </a:rPr>
              <a:t>3</a:t>
            </a:r>
            <a:endParaRPr lang="en-US" sz="2400" dirty="0"/>
          </a:p>
        </p:txBody>
      </p:sp>
      <p:sp>
        <p:nvSpPr>
          <p:cNvPr id="11" name="Câu hỏi 3"/>
          <p:cNvSpPr txBox="1"/>
          <p:nvPr/>
        </p:nvSpPr>
        <p:spPr>
          <a:xfrm>
            <a:off x="1371600" y="3383280"/>
            <a:ext cx="7315200" cy="822960"/>
          </a:xfrm>
          <a:prstGeom prst="rect">
            <a:avLst/>
          </a:prstGeom>
          <a:noFill/>
          <a:ln/>
        </p:spPr>
        <p:txBody>
          <a:bodyPr wrap="square" lIns="0" tIns="0" rIns="0" bIns="0" rtlCol="0" anchor="ctr"/>
          <a:lstStyle/>
          <a:p>
            <a:pPr marL="0" indent="0">
              <a:buNone/>
            </a:pPr>
            <a:r>
              <a:rPr lang="en-US" sz="2000" dirty="0">
                <a:solidFill>
                  <a:schemeClr val="bg1"/>
                </a:solidFill>
              </a:rPr>
              <a:t>Làm sao để mọi sinh viên đều có cơ hội tiếp cận AI một cách công bằng?</a:t>
            </a:r>
            <a:endParaRPr lang="en-US" sz="20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ADCE0"/>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êu đề"/>
          <p:cNvSpPr txBox="1"/>
          <p:nvPr/>
        </p:nvSpPr>
        <p:spPr>
          <a:xfrm>
            <a:off x="457200" y="274320"/>
            <a:ext cx="8229600" cy="777240"/>
          </a:xfrm>
          <a:prstGeom prst="rect">
            <a:avLst/>
          </a:prstGeom>
          <a:noFill/>
          <a:ln/>
        </p:spPr>
        <p:txBody>
          <a:bodyPr wrap="square" lIns="0" tIns="0" rIns="0" bIns="0" rtlCol="0" anchor="ctr"/>
          <a:lstStyle/>
          <a:p>
            <a:pPr marL="0" indent="0" algn="l">
              <a:buNone/>
            </a:pPr>
            <a:r>
              <a:rPr lang="en-US" sz="3400" b="1" dirty="0">
                <a:solidFill>
                  <a:schemeClr val="tx2"/>
                </a:solidFill>
                <a:latin typeface="Cambria" pitchFamily="34" charset="0"/>
                <a:ea typeface="Cambria" pitchFamily="34" charset="-122"/>
                <a:cs typeface="Cambria" pitchFamily="34" charset="-120"/>
              </a:rPr>
              <a:t>Tài liệu tham khảo</a:t>
            </a:r>
            <a:endParaRPr lang="en-US" sz="3400" dirty="0"/>
          </a:p>
        </p:txBody>
      </p:sp>
      <p:sp>
        <p:nvSpPr>
          <p:cNvPr id="3" name="Danh sách tài liệu"/>
          <p:cNvSpPr txBox="1"/>
          <p:nvPr/>
        </p:nvSpPr>
        <p:spPr>
          <a:xfrm>
            <a:off x="457200" y="1188720"/>
            <a:ext cx="8229600" cy="3383280"/>
          </a:xfrm>
          <a:prstGeom prst="rect">
            <a:avLst/>
          </a:prstGeom>
          <a:noFill/>
          <a:ln/>
        </p:spPr>
        <p:txBody>
          <a:bodyPr wrap="square" lIns="0" tIns="0" rIns="0" bIns="0" rtlCol="0" anchor="t"/>
          <a:lstStyle/>
          <a:p>
            <a:pPr marL="0" indent="0">
              <a:spcAft>
                <a:spcPts val="600"/>
              </a:spcAft>
              <a:buNone/>
            </a:pPr>
            <a:r>
              <a:rPr lang="en-US" sz="1200" dirty="0">
                <a:solidFill>
                  <a:schemeClr val="tx1"/>
                </a:solidFill>
              </a:rPr>
              <a:t>Bastani, H., Bastani, O., Sungu, A., Ge, H., Kabakcı, Ö., &amp; Mariman, R. (2025). Generative AI without guardrails can harm learning: Evidence from high school mathematics. PNAS, 122(26). https://doi.org/10.1073/pnas.2422633122</a:t>
            </a:r>
            <a:endParaRPr lang="en-US" sz="1200" dirty="0"/>
          </a:p>
          <a:p>
            <a:pPr marL="0" indent="0">
              <a:spcAft>
                <a:spcPts val="600"/>
              </a:spcAft>
              <a:buNone/>
            </a:pPr>
            <a:r>
              <a:rPr lang="en-US" sz="1200" dirty="0">
                <a:solidFill>
                  <a:schemeClr val="tx1"/>
                </a:solidFill>
              </a:rPr>
              <a:t>Digital Education Council. (2024). Global AI Student Survey 2024. https://www.digitaleducationcouncil.com/post/what-students-want-key-results-from-dec-global-ai-student-survey-2024</a:t>
            </a:r>
            <a:endParaRPr lang="en-US" sz="1200" dirty="0"/>
          </a:p>
          <a:p>
            <a:pPr marL="0" indent="0">
              <a:spcAft>
                <a:spcPts val="600"/>
              </a:spcAft>
              <a:buNone/>
            </a:pPr>
            <a:r>
              <a:rPr lang="en-US" sz="1200" dirty="0">
                <a:solidFill>
                  <a:schemeClr val="tx1"/>
                </a:solidFill>
              </a:rPr>
              <a:t>Kasneci, E., et al. (2023). ChatGPT for good? On opportunities and challenges of large language models for education. Learning and Individual Differences, 103, 102274. https://doi.org/10.1016/j.lindif.2023.102274</a:t>
            </a:r>
            <a:endParaRPr lang="en-US" sz="1200" dirty="0"/>
          </a:p>
          <a:p>
            <a:pPr marL="0" indent="0">
              <a:spcAft>
                <a:spcPts val="600"/>
              </a:spcAft>
              <a:buNone/>
            </a:pPr>
            <a:r>
              <a:rPr lang="en-US" sz="1200" dirty="0">
                <a:solidFill>
                  <a:schemeClr val="tx1"/>
                </a:solidFill>
              </a:rPr>
              <a:t>Miao, F., &amp; Holmes, W. (2023). Guidance for generative AI in education and research. UNESCO. https://unesdoc.unesco.org/ark:/48223/pf0000386693</a:t>
            </a:r>
            <a:endParaRPr lang="en-US" sz="1200" dirty="0"/>
          </a:p>
          <a:p>
            <a:pPr marL="0" indent="0">
              <a:spcAft>
                <a:spcPts val="600"/>
              </a:spcAft>
              <a:buNone/>
            </a:pPr>
            <a:r>
              <a:rPr lang="en-US" sz="1200" dirty="0">
                <a:solidFill>
                  <a:schemeClr val="tx1"/>
                </a:solidFill>
              </a:rPr>
              <a:t>OECD. (2026). OECD Digital Education Outlook 2026: Exploring effective uses of generative AI in education. OECD Publishing. https://doi.org/10.1787/062a7394-en</a:t>
            </a:r>
            <a:endParaRPr lang="en-US" sz="1200" dirty="0"/>
          </a:p>
          <a:p>
            <a:pPr marL="0" indent="0">
              <a:spcAft>
                <a:spcPts val="600"/>
              </a:spcAft>
              <a:buNone/>
            </a:pPr>
            <a:r>
              <a:rPr lang="en-US" sz="1200" dirty="0">
                <a:solidFill>
                  <a:schemeClr val="tx1"/>
                </a:solidFill>
              </a:rPr>
              <a:t>Robert, J., &amp; McCormack, M. (2025). 2025 EDUCAUSE AI Landscape Study: Into the Digital AI Divide. EDUCAUSE. https://library.educause.edu/resources/2025/2/2025-educause-ai-landscape-study</a:t>
            </a:r>
            <a:endParaRPr lang="en-US" sz="12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7C99"/>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TotalTime>
  <Words>1946</Words>
  <Application>Microsoft Office PowerPoint</Application>
  <PresentationFormat>Trình chiếu Trên màn hình (16:9)</PresentationFormat>
  <Paragraphs>181</Paragraphs>
  <Slides>12</Slides>
  <Notes>12</Notes>
  <HiddenSlides>0</HiddenSlides>
  <MMClips>0</MMClips>
  <ScaleCrop>false</ScaleCrop>
  <HeadingPairs>
    <vt:vector size="6" baseType="variant">
      <vt:variant>
        <vt:lpstr>Phông được Dùng</vt:lpstr>
      </vt:variant>
      <vt:variant>
        <vt:i4>5</vt:i4>
      </vt:variant>
      <vt:variant>
        <vt:lpstr>Chủ đề</vt:lpstr>
      </vt:variant>
      <vt:variant>
        <vt:i4>1</vt:i4>
      </vt:variant>
      <vt:variant>
        <vt:lpstr>Tiêu đề Bản chiếu</vt:lpstr>
      </vt:variant>
      <vt:variant>
        <vt:i4>12</vt:i4>
      </vt:variant>
    </vt:vector>
  </HeadingPairs>
  <TitlesOfParts>
    <vt:vector size="18" baseType="lpstr">
      <vt:lpstr>Arial</vt:lpstr>
      <vt:lpstr>Calibri</vt:lpstr>
      <vt:lpstr>Calibri Light</vt:lpstr>
      <vt:lpstr>Cambria</vt:lpstr>
      <vt:lpstr>Times New Roman</vt:lpstr>
      <vt:lpstr>Chủ đề Office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Ứng dụng của AI trong học tập</dc:title>
  <dc:subject>PptxGenJS Presentation</dc:subject>
  <dc:creator>PptxGenJS</dc:creator>
  <cp:lastModifiedBy>Valentino Vorontsov</cp:lastModifiedBy>
  <cp:revision>1</cp:revision>
  <dcterms:created xsi:type="dcterms:W3CDTF">2026-10-18T14:58:13Z</dcterms:created>
  <dcterms:modified xsi:type="dcterms:W3CDTF">2026-10-18T15:18:16Z</dcterms:modified>
</cp:coreProperties>
</file>